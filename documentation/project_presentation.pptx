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4"/>
  </p:sldMasterIdLst>
  <p:notesMasterIdLst>
    <p:notesMasterId r:id="rId23"/>
  </p:notesMasterIdLst>
  <p:handoutMasterIdLst>
    <p:handoutMasterId r:id="rId24"/>
  </p:handoutMasterIdLst>
  <p:sldIdLst>
    <p:sldId id="256" r:id="rId5"/>
    <p:sldId id="271" r:id="rId6"/>
    <p:sldId id="279" r:id="rId7"/>
    <p:sldId id="281" r:id="rId8"/>
    <p:sldId id="280" r:id="rId9"/>
    <p:sldId id="287" r:id="rId10"/>
    <p:sldId id="282" r:id="rId11"/>
    <p:sldId id="288" r:id="rId12"/>
    <p:sldId id="286" r:id="rId13"/>
    <p:sldId id="294" r:id="rId14"/>
    <p:sldId id="295" r:id="rId15"/>
    <p:sldId id="289" r:id="rId16"/>
    <p:sldId id="292" r:id="rId17"/>
    <p:sldId id="296" r:id="rId18"/>
    <p:sldId id="284" r:id="rId19"/>
    <p:sldId id="285" r:id="rId20"/>
    <p:sldId id="297" r:id="rId21"/>
    <p:sldId id="298"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Welcome" id="{E75E278A-FF0E-49A4-B170-79828D63BBAD}">
          <p14:sldIdLst>
            <p14:sldId id="256"/>
          </p14:sldIdLst>
        </p14:section>
        <p14:section name="Design, Morph, Annotate, Work Together, Tell Me" id="{B9B51309-D148-4332-87C2-07BE32FBCA3B}">
          <p14:sldIdLst>
            <p14:sldId id="271"/>
            <p14:sldId id="279"/>
            <p14:sldId id="281"/>
            <p14:sldId id="280"/>
            <p14:sldId id="287"/>
            <p14:sldId id="282"/>
            <p14:sldId id="288"/>
            <p14:sldId id="286"/>
            <p14:sldId id="294"/>
            <p14:sldId id="295"/>
            <p14:sldId id="289"/>
            <p14:sldId id="292"/>
            <p14:sldId id="296"/>
            <p14:sldId id="284"/>
            <p14:sldId id="285"/>
            <p14:sldId id="297"/>
            <p14:sldId id="298"/>
          </p14:sldIdLst>
        </p14:section>
        <p14:section name="Learn More" id="{2CC34DB2-6590-42C0-AD4B-A04C6060184E}">
          <p14:sldIdLst/>
        </p14:section>
      </p14:sectionLst>
    </p:ex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2" name="Author" initials="A" lastIdx="0" clrIdx="1"/>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24726"/>
    <a:srgbClr val="404040"/>
    <a:srgbClr val="FF9B45"/>
    <a:srgbClr val="DD462F"/>
    <a:srgbClr val="F8CFB6"/>
    <a:srgbClr val="F8CAB6"/>
    <a:srgbClr val="923922"/>
    <a:srgbClr val="F5F5F5"/>
    <a:srgbClr val="F2F2F2"/>
    <a:srgbClr val="D2B4A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EE125DF-C7F1-4FA9-8E3B-A63675FBDD8E}" v="3" dt="2026-04-30T03:06:18.95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241" autoAdjust="0"/>
  </p:normalViewPr>
  <p:slideViewPr>
    <p:cSldViewPr snapToGrid="0">
      <p:cViewPr varScale="1">
        <p:scale>
          <a:sx n="55" d="100"/>
          <a:sy n="55" d="100"/>
        </p:scale>
        <p:origin x="1096" y="40"/>
      </p:cViewPr>
      <p:guideLst>
        <p:guide orient="horz" pos="2160"/>
        <p:guide pos="3840"/>
      </p:guideLst>
    </p:cSldViewPr>
  </p:slideViewPr>
  <p:outlineViewPr>
    <p:cViewPr>
      <p:scale>
        <a:sx n="33" d="100"/>
        <a:sy n="33" d="100"/>
      </p:scale>
      <p:origin x="0" y="0"/>
    </p:cViewPr>
  </p:outlineViewPr>
  <p:notesTextViewPr>
    <p:cViewPr>
      <p:scale>
        <a:sx n="1" d="1"/>
        <a:sy n="1" d="1"/>
      </p:scale>
      <p:origin x="0" y="0"/>
    </p:cViewPr>
  </p:notesTextViewPr>
  <p:notesViewPr>
    <p:cSldViewPr snapToGrid="0">
      <p:cViewPr varScale="1">
        <p:scale>
          <a:sx n="84" d="100"/>
          <a:sy n="84" d="100"/>
        </p:scale>
        <p:origin x="3828" y="90"/>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commentAuthors" Target="commentAuthor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handoutMaster" Target="handoutMasters/handoutMaster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notesMaster" Target="notesMasters/notesMaster1.xml"/><Relationship Id="rId28"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viewProps" Target="viewProps.xml"/><Relationship Id="rId30" Type="http://schemas.microsoft.com/office/2015/10/relationships/revisionInfo" Target="revisionInfo.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80680FBE-A8DF-4758-9AC4-3A9E1039168F}" type="datetimeFigureOut">
              <a:rPr lang="en-US" smtClean="0"/>
              <a:t>4/30/2026</a:t>
            </a:fld>
            <a:endParaRPr lang="en-US" dirty="0"/>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C679768-A2FC-4D08-91F6-8DCE6C566B36}" type="slidenum">
              <a:rPr lang="en-US" smtClean="0"/>
              <a:t>‹#›</a:t>
            </a:fld>
            <a:endParaRPr lang="en-US" dirty="0"/>
          </a:p>
        </p:txBody>
      </p:sp>
    </p:spTree>
    <p:extLst>
      <p:ext uri="{BB962C8B-B14F-4D97-AF65-F5344CB8AC3E}">
        <p14:creationId xmlns:p14="http://schemas.microsoft.com/office/powerpoint/2010/main" val="183025516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C13577B-6902-467D-A26C-08A0DD5E4E03}" type="datetimeFigureOut">
              <a:rPr lang="en-US" smtClean="0"/>
              <a:t>4/30/2026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F61EA0F-A667-4B49-8422-0062BC55E249}" type="slidenum">
              <a:rPr lang="en-US" smtClean="0"/>
              <a:t>‹#›</a:t>
            </a:fld>
            <a:endParaRPr lang="en-US" dirty="0"/>
          </a:p>
        </p:txBody>
      </p:sp>
    </p:spTree>
    <p:extLst>
      <p:ext uri="{BB962C8B-B14F-4D97-AF65-F5344CB8AC3E}">
        <p14:creationId xmlns:p14="http://schemas.microsoft.com/office/powerpoint/2010/main" val="33819102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DF61EA0F-A667-4B49-8422-0062BC55E249}" type="slidenum">
              <a:rPr lang="en-US" smtClean="0"/>
              <a:t>1</a:t>
            </a:fld>
            <a:endParaRPr lang="en-US" dirty="0"/>
          </a:p>
        </p:txBody>
      </p:sp>
    </p:spTree>
    <p:extLst>
      <p:ext uri="{BB962C8B-B14F-4D97-AF65-F5344CB8AC3E}">
        <p14:creationId xmlns:p14="http://schemas.microsoft.com/office/powerpoint/2010/main" val="101176981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7" name="Rectangle 6"/>
          <p:cNvSpPr/>
          <p:nvPr userDrawn="1"/>
        </p:nvSpPr>
        <p:spPr bwMode="blackWhite">
          <a:xfrm>
            <a:off x="254950" y="262784"/>
            <a:ext cx="11682101" cy="6332433"/>
          </a:xfrm>
          <a:prstGeom prst="rect">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
        <p:nvSpPr>
          <p:cNvPr id="2" name="Title 1"/>
          <p:cNvSpPr>
            <a:spLocks noGrp="1"/>
          </p:cNvSpPr>
          <p:nvPr>
            <p:ph type="title"/>
          </p:nvPr>
        </p:nvSpPr>
        <p:spPr/>
        <p:txBody>
          <a:bodyPr/>
          <a:lstStyle/>
          <a:p>
            <a:r>
              <a:rPr lang="en-US"/>
              <a:t>Click to edit Master title style</a:t>
            </a:r>
            <a:endParaRPr lang="en-US" dirty="0"/>
          </a:p>
        </p:txBody>
      </p:sp>
    </p:spTree>
    <p:extLst>
      <p:ext uri="{BB962C8B-B14F-4D97-AF65-F5344CB8AC3E}">
        <p14:creationId xmlns:p14="http://schemas.microsoft.com/office/powerpoint/2010/main" val="171854949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9" name="Rectangle 8"/>
          <p:cNvSpPr/>
          <p:nvPr userDrawn="1"/>
        </p:nvSpPr>
        <p:spPr>
          <a:xfrm>
            <a:off x="256032" y="265176"/>
            <a:ext cx="11683049" cy="6332433"/>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nchorCtr="0"/>
          <a:lstStyle/>
          <a:p>
            <a:pPr algn="ctr"/>
            <a:endParaRPr lang="en-US" sz="1800" dirty="0"/>
          </a:p>
        </p:txBody>
      </p:sp>
      <p:cxnSp>
        <p:nvCxnSpPr>
          <p:cNvPr id="12" name="Straight Connector 11"/>
          <p:cNvCxnSpPr/>
          <p:nvPr userDrawn="1"/>
        </p:nvCxnSpPr>
        <p:spPr>
          <a:xfrm>
            <a:off x="604434" y="1196392"/>
            <a:ext cx="10983132" cy="0"/>
          </a:xfrm>
          <a:prstGeom prst="line">
            <a:avLst/>
          </a:prstGeom>
          <a:ln w="25400">
            <a:solidFill>
              <a:srgbClr val="D24726"/>
            </a:solidFill>
          </a:ln>
        </p:spPr>
        <p:style>
          <a:lnRef idx="1">
            <a:schemeClr val="accent1"/>
          </a:lnRef>
          <a:fillRef idx="0">
            <a:schemeClr val="accent1"/>
          </a:fillRef>
          <a:effectRef idx="0">
            <a:schemeClr val="accent1"/>
          </a:effectRef>
          <a:fontRef idx="minor">
            <a:schemeClr val="tx1"/>
          </a:fontRef>
        </p:style>
      </p:cxnSp>
      <p:sp>
        <p:nvSpPr>
          <p:cNvPr id="4" name="Title 3"/>
          <p:cNvSpPr>
            <a:spLocks noGrp="1"/>
          </p:cNvSpPr>
          <p:nvPr>
            <p:ph type="title"/>
          </p:nvPr>
        </p:nvSpPr>
        <p:spPr>
          <a:xfrm>
            <a:off x="521207" y="448056"/>
            <a:ext cx="6877119" cy="640080"/>
          </a:xfrm>
        </p:spPr>
        <p:txBody>
          <a:bodyPr anchor="b" anchorCtr="0">
            <a:normAutofit/>
          </a:bodyPr>
          <a:lstStyle>
            <a:lvl1pPr>
              <a:defRPr sz="2800">
                <a:solidFill>
                  <a:schemeClr val="bg2">
                    <a:lumMod val="25000"/>
                  </a:schemeClr>
                </a:solidFill>
              </a:defRPr>
            </a:lvl1pPr>
          </a:lstStyle>
          <a:p>
            <a:r>
              <a:rPr lang="en-US"/>
              <a:t>Click to edit Master title style</a:t>
            </a:r>
            <a:endParaRPr lang="en-US" dirty="0"/>
          </a:p>
        </p:txBody>
      </p:sp>
      <p:sp>
        <p:nvSpPr>
          <p:cNvPr id="3" name="Content Placeholder 2"/>
          <p:cNvSpPr>
            <a:spLocks noGrp="1"/>
          </p:cNvSpPr>
          <p:nvPr>
            <p:ph sz="quarter" idx="10"/>
          </p:nvPr>
        </p:nvSpPr>
        <p:spPr>
          <a:xfrm>
            <a:off x="539496" y="1435608"/>
            <a:ext cx="4416552" cy="3977640"/>
          </a:xfrm>
        </p:spPr>
        <p:txBody>
          <a:bodyPr vert="horz" lIns="91440" tIns="45720" rIns="91440" bIns="45720" rtlCol="0">
            <a:normAutofit/>
          </a:bodyPr>
          <a:lstStyle>
            <a:lvl1pPr>
              <a:defRPr lang="en-US" sz="1200" smtClean="0">
                <a:solidFill>
                  <a:schemeClr val="tx1">
                    <a:lumMod val="75000"/>
                    <a:lumOff val="25000"/>
                  </a:schemeClr>
                </a:solidFill>
              </a:defRPr>
            </a:lvl1pPr>
            <a:lvl2pPr>
              <a:defRPr lang="en-US" sz="1200" smtClean="0">
                <a:solidFill>
                  <a:schemeClr val="tx1">
                    <a:lumMod val="75000"/>
                    <a:lumOff val="25000"/>
                  </a:schemeClr>
                </a:solidFill>
              </a:defRPr>
            </a:lvl2pPr>
            <a:lvl3pPr>
              <a:defRPr lang="en-US" sz="1200" smtClean="0">
                <a:solidFill>
                  <a:schemeClr val="tx1">
                    <a:lumMod val="75000"/>
                    <a:lumOff val="25000"/>
                  </a:schemeClr>
                </a:solidFill>
              </a:defRPr>
            </a:lvl3pPr>
            <a:lvl4pPr>
              <a:defRPr lang="en-US" sz="1200" smtClean="0">
                <a:solidFill>
                  <a:schemeClr val="tx1">
                    <a:lumMod val="75000"/>
                    <a:lumOff val="25000"/>
                  </a:schemeClr>
                </a:solidFill>
              </a:defRPr>
            </a:lvl4pPr>
            <a:lvl5pPr>
              <a:defRPr lang="en-US" sz="1200">
                <a:solidFill>
                  <a:schemeClr val="tx1">
                    <a:lumMod val="75000"/>
                    <a:lumOff val="25000"/>
                  </a:schemeClr>
                </a:solidFill>
              </a:defRPr>
            </a:lvl5pPr>
          </a:lstStyle>
          <a:p>
            <a:pPr marL="0" lvl="0" indent="0">
              <a:lnSpc>
                <a:spcPct val="150000"/>
              </a:lnSpc>
              <a:spcBef>
                <a:spcPts val="1000"/>
              </a:spcBef>
              <a:spcAft>
                <a:spcPts val="1200"/>
              </a:spcAft>
              <a:buNone/>
            </a:pPr>
            <a:r>
              <a:rPr lang="en-US"/>
              <a:t>Click to edit Master text styles</a:t>
            </a:r>
          </a:p>
          <a:p>
            <a:pPr marL="0" lvl="1" indent="0">
              <a:lnSpc>
                <a:spcPct val="150000"/>
              </a:lnSpc>
              <a:spcBef>
                <a:spcPts val="1000"/>
              </a:spcBef>
              <a:spcAft>
                <a:spcPts val="1200"/>
              </a:spcAft>
              <a:buNone/>
            </a:pPr>
            <a:r>
              <a:rPr lang="en-US"/>
              <a:t>Second level</a:t>
            </a:r>
          </a:p>
          <a:p>
            <a:pPr marL="0" lvl="2" indent="0">
              <a:lnSpc>
                <a:spcPct val="150000"/>
              </a:lnSpc>
              <a:spcBef>
                <a:spcPts val="1000"/>
              </a:spcBef>
              <a:spcAft>
                <a:spcPts val="1200"/>
              </a:spcAft>
              <a:buNone/>
            </a:pPr>
            <a:r>
              <a:rPr lang="en-US"/>
              <a:t>Third level</a:t>
            </a:r>
          </a:p>
          <a:p>
            <a:pPr marL="0" lvl="3" indent="0">
              <a:lnSpc>
                <a:spcPct val="150000"/>
              </a:lnSpc>
              <a:spcBef>
                <a:spcPts val="1000"/>
              </a:spcBef>
              <a:spcAft>
                <a:spcPts val="1200"/>
              </a:spcAft>
              <a:buNone/>
            </a:pPr>
            <a:r>
              <a:rPr lang="en-US"/>
              <a:t>Fourth level</a:t>
            </a:r>
          </a:p>
          <a:p>
            <a:pPr marL="0" lvl="4" indent="0">
              <a:lnSpc>
                <a:spcPct val="150000"/>
              </a:lnSpc>
              <a:spcBef>
                <a:spcPts val="1000"/>
              </a:spcBef>
              <a:spcAft>
                <a:spcPts val="1200"/>
              </a:spcAft>
              <a:buNone/>
            </a:pPr>
            <a:r>
              <a:rPr lang="en-US"/>
              <a:t>Fifth level</a:t>
            </a:r>
            <a:endParaRPr lang="en-US" dirty="0"/>
          </a:p>
        </p:txBody>
      </p:sp>
      <p:sp>
        <p:nvSpPr>
          <p:cNvPr id="6" name="Date Placeholder 3"/>
          <p:cNvSpPr>
            <a:spLocks noGrp="1"/>
          </p:cNvSpPr>
          <p:nvPr>
            <p:ph type="dt" sz="half" idx="2"/>
          </p:nvPr>
        </p:nvSpPr>
        <p:spPr>
          <a:xfrm>
            <a:off x="539496" y="6203952"/>
            <a:ext cx="3276600" cy="365125"/>
          </a:xfrm>
          <a:prstGeom prst="rect">
            <a:avLst/>
          </a:prstGeom>
        </p:spPr>
        <p:txBody>
          <a:bodyPr vert="horz" lIns="91440" tIns="45720" rIns="91440" bIns="45720" rtlCol="0" anchor="ctr"/>
          <a:lstStyle>
            <a:lvl1pPr algn="l">
              <a:defRPr sz="1200" baseline="0">
                <a:solidFill>
                  <a:schemeClr val="tx1">
                    <a:lumMod val="65000"/>
                    <a:lumOff val="35000"/>
                  </a:schemeClr>
                </a:solidFill>
              </a:defRPr>
            </a:lvl1pPr>
          </a:lstStyle>
          <a:p>
            <a:fld id="{8BEEBAAA-29B5-4AF5-BC5F-7E580C29002D}" type="datetimeFigureOut">
              <a:rPr lang="en-US" smtClean="0"/>
              <a:pPr/>
              <a:t>4/30/2026</a:t>
            </a:fld>
            <a:endParaRPr lang="en-US" dirty="0"/>
          </a:p>
        </p:txBody>
      </p:sp>
      <p:sp>
        <p:nvSpPr>
          <p:cNvPr id="7" name="Footer Placeholder 4"/>
          <p:cNvSpPr>
            <a:spLocks noGrp="1"/>
          </p:cNvSpPr>
          <p:nvPr>
            <p:ph type="ftr" sz="quarter" idx="3"/>
          </p:nvPr>
        </p:nvSpPr>
        <p:spPr>
          <a:xfrm>
            <a:off x="4648200" y="6203952"/>
            <a:ext cx="2895600" cy="365125"/>
          </a:xfrm>
          <a:prstGeom prst="rect">
            <a:avLst/>
          </a:prstGeom>
        </p:spPr>
        <p:txBody>
          <a:bodyPr vert="horz" lIns="91440" tIns="45720" rIns="91440" bIns="45720" rtlCol="0" anchor="ctr"/>
          <a:lstStyle>
            <a:lvl1pPr algn="ctr">
              <a:defRPr sz="1200" baseline="0">
                <a:solidFill>
                  <a:schemeClr val="tx1">
                    <a:lumMod val="65000"/>
                    <a:lumOff val="35000"/>
                  </a:schemeClr>
                </a:solidFill>
              </a:defRPr>
            </a:lvl1pPr>
          </a:lstStyle>
          <a:p>
            <a:endParaRPr lang="en-US" dirty="0"/>
          </a:p>
        </p:txBody>
      </p:sp>
      <p:sp>
        <p:nvSpPr>
          <p:cNvPr id="8" name="Slide Number Placeholder 5"/>
          <p:cNvSpPr>
            <a:spLocks noGrp="1"/>
          </p:cNvSpPr>
          <p:nvPr>
            <p:ph type="sldNum" sz="quarter" idx="4"/>
          </p:nvPr>
        </p:nvSpPr>
        <p:spPr>
          <a:xfrm>
            <a:off x="8371926" y="6203952"/>
            <a:ext cx="3276600" cy="365125"/>
          </a:xfrm>
          <a:prstGeom prst="rect">
            <a:avLst/>
          </a:prstGeom>
        </p:spPr>
        <p:txBody>
          <a:bodyPr vert="horz" lIns="91440" tIns="45720" rIns="91440" bIns="45720" rtlCol="0" anchor="ctr"/>
          <a:lstStyle>
            <a:lvl1pPr algn="r">
              <a:defRPr sz="1200" baseline="0">
                <a:solidFill>
                  <a:schemeClr val="tx1">
                    <a:lumMod val="65000"/>
                    <a:lumOff val="35000"/>
                  </a:schemeClr>
                </a:solidFill>
              </a:defRPr>
            </a:lvl1pPr>
          </a:lstStyle>
          <a:p>
            <a:fld id="{9860EDB8-5305-433F-BE41-D7A86D811DB3}" type="slidenum">
              <a:rPr lang="en-US" smtClean="0"/>
              <a:pPr/>
              <a:t>‹#›</a:t>
            </a:fld>
            <a:endParaRPr lang="en-US" dirty="0"/>
          </a:p>
        </p:txBody>
      </p:sp>
    </p:spTree>
    <p:extLst>
      <p:ext uri="{BB962C8B-B14F-4D97-AF65-F5344CB8AC3E}">
        <p14:creationId xmlns:p14="http://schemas.microsoft.com/office/powerpoint/2010/main" val="218583654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9" name="Rectangle 8"/>
          <p:cNvSpPr/>
          <p:nvPr userDrawn="1"/>
        </p:nvSpPr>
        <p:spPr>
          <a:xfrm>
            <a:off x="254951" y="262784"/>
            <a:ext cx="11683049" cy="6332433"/>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
        <p:nvSpPr>
          <p:cNvPr id="10" name="Rectangle 9"/>
          <p:cNvSpPr/>
          <p:nvPr userDrawn="1"/>
        </p:nvSpPr>
        <p:spPr bwMode="blackWhite">
          <a:xfrm>
            <a:off x="254950" y="262784"/>
            <a:ext cx="11682101" cy="2072643"/>
          </a:xfrm>
          <a:prstGeom prst="rect">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
        <p:nvSpPr>
          <p:cNvPr id="2" name="Title 1"/>
          <p:cNvSpPr>
            <a:spLocks noGrp="1"/>
          </p:cNvSpPr>
          <p:nvPr>
            <p:ph type="title"/>
          </p:nvPr>
        </p:nvSpPr>
        <p:spPr>
          <a:xfrm>
            <a:off x="521208" y="1536192"/>
            <a:ext cx="6876288" cy="640080"/>
          </a:xfrm>
        </p:spPr>
        <p:txBody>
          <a:bodyPr>
            <a:normAutofit/>
          </a:bodyPr>
          <a:lstStyle>
            <a:lvl1pPr>
              <a:defRPr sz="3600">
                <a:solidFill>
                  <a:schemeClr val="bg1"/>
                </a:solidFill>
              </a:defRPr>
            </a:lvl1pPr>
          </a:lstStyle>
          <a:p>
            <a:r>
              <a:rPr lang="en-US"/>
              <a:t>Click to edit Master title style</a:t>
            </a:r>
            <a:endParaRPr lang="en-US" dirty="0"/>
          </a:p>
        </p:txBody>
      </p:sp>
      <p:sp>
        <p:nvSpPr>
          <p:cNvPr id="7" name="Content Placeholder 6"/>
          <p:cNvSpPr>
            <a:spLocks noGrp="1"/>
          </p:cNvSpPr>
          <p:nvPr>
            <p:ph sz="quarter" idx="13"/>
          </p:nvPr>
        </p:nvSpPr>
        <p:spPr>
          <a:xfrm>
            <a:off x="539496" y="2560320"/>
            <a:ext cx="9445752" cy="3977640"/>
          </a:xfrm>
        </p:spPr>
        <p:txBody>
          <a:bodyPr vert="horz" lIns="91440" tIns="45720" rIns="91440" bIns="45720" rtlCol="0">
            <a:normAutofit/>
          </a:bodyPr>
          <a:lstStyle>
            <a:lvl1pPr>
              <a:defRPr lang="en-US" sz="2400" smtClean="0">
                <a:solidFill>
                  <a:schemeClr val="tx1">
                    <a:lumMod val="75000"/>
                    <a:lumOff val="25000"/>
                  </a:schemeClr>
                </a:solidFill>
                <a:latin typeface="+mj-lt"/>
              </a:defRPr>
            </a:lvl1pPr>
            <a:lvl2pPr>
              <a:defRPr lang="en-US" sz="1200" dirty="0" smtClean="0">
                <a:solidFill>
                  <a:schemeClr val="tx1">
                    <a:lumMod val="75000"/>
                    <a:lumOff val="25000"/>
                  </a:schemeClr>
                </a:solidFill>
              </a:defRPr>
            </a:lvl2pPr>
            <a:lvl3pPr>
              <a:defRPr lang="en-US" sz="1200" dirty="0" smtClean="0">
                <a:solidFill>
                  <a:schemeClr val="tx1">
                    <a:lumMod val="75000"/>
                    <a:lumOff val="25000"/>
                  </a:schemeClr>
                </a:solidFill>
              </a:defRPr>
            </a:lvl3pPr>
            <a:lvl4pPr>
              <a:defRPr lang="en-US" sz="1200" dirty="0" smtClean="0">
                <a:solidFill>
                  <a:schemeClr val="tx1">
                    <a:lumMod val="75000"/>
                    <a:lumOff val="25000"/>
                  </a:schemeClr>
                </a:solidFill>
              </a:defRPr>
            </a:lvl4pPr>
            <a:lvl5pPr>
              <a:defRPr lang="en-US" sz="1200" dirty="0">
                <a:solidFill>
                  <a:schemeClr val="tx1">
                    <a:lumMod val="75000"/>
                    <a:lumOff val="25000"/>
                  </a:schemeClr>
                </a:solidFill>
              </a:defRPr>
            </a:lvl5pPr>
          </a:lstStyle>
          <a:p>
            <a:pPr marL="0" lvl="0" indent="0">
              <a:lnSpc>
                <a:spcPct val="150000"/>
              </a:lnSpc>
              <a:spcBef>
                <a:spcPts val="1000"/>
              </a:spcBef>
              <a:spcAft>
                <a:spcPts val="1200"/>
              </a:spcAft>
              <a:buNone/>
            </a:pPr>
            <a:r>
              <a:rPr lang="en-US"/>
              <a:t>Click to edit Master text styles</a:t>
            </a:r>
          </a:p>
          <a:p>
            <a:pPr marL="0" lvl="1" indent="0">
              <a:lnSpc>
                <a:spcPct val="150000"/>
              </a:lnSpc>
              <a:spcBef>
                <a:spcPts val="1000"/>
              </a:spcBef>
              <a:spcAft>
                <a:spcPts val="1200"/>
              </a:spcAft>
              <a:buNone/>
            </a:pPr>
            <a:r>
              <a:rPr lang="en-US"/>
              <a:t>Second level</a:t>
            </a:r>
          </a:p>
          <a:p>
            <a:pPr marL="0" lvl="2" indent="0">
              <a:lnSpc>
                <a:spcPct val="150000"/>
              </a:lnSpc>
              <a:spcBef>
                <a:spcPts val="1000"/>
              </a:spcBef>
              <a:spcAft>
                <a:spcPts val="1200"/>
              </a:spcAft>
              <a:buNone/>
            </a:pPr>
            <a:r>
              <a:rPr lang="en-US"/>
              <a:t>Third level</a:t>
            </a:r>
          </a:p>
          <a:p>
            <a:pPr marL="0" lvl="3" indent="0">
              <a:lnSpc>
                <a:spcPct val="150000"/>
              </a:lnSpc>
              <a:spcBef>
                <a:spcPts val="1000"/>
              </a:spcBef>
              <a:spcAft>
                <a:spcPts val="1200"/>
              </a:spcAft>
              <a:buNone/>
            </a:pPr>
            <a:r>
              <a:rPr lang="en-US"/>
              <a:t>Fourth level</a:t>
            </a:r>
          </a:p>
          <a:p>
            <a:pPr marL="0" lvl="4" indent="0">
              <a:lnSpc>
                <a:spcPct val="150000"/>
              </a:lnSpc>
              <a:spcBef>
                <a:spcPts val="1000"/>
              </a:spcBef>
              <a:spcAft>
                <a:spcPts val="1200"/>
              </a:spcAft>
              <a:buNone/>
            </a:pPr>
            <a:r>
              <a:rPr lang="en-US"/>
              <a:t>Fifth level</a:t>
            </a:r>
            <a:endParaRPr lang="en-US" dirty="0"/>
          </a:p>
        </p:txBody>
      </p:sp>
    </p:spTree>
    <p:extLst>
      <p:ext uri="{BB962C8B-B14F-4D97-AF65-F5344CB8AC3E}">
        <p14:creationId xmlns:p14="http://schemas.microsoft.com/office/powerpoint/2010/main" val="1335655537"/>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userDrawn="1"/>
        </p:nvSpPr>
        <p:spPr>
          <a:xfrm>
            <a:off x="256032" y="265176"/>
            <a:ext cx="11683049" cy="6332433"/>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nchorCtr="0"/>
          <a:lstStyle/>
          <a:p>
            <a:pPr algn="ctr"/>
            <a:endParaRPr lang="en-US" sz="1800" dirty="0"/>
          </a:p>
        </p:txBody>
      </p:sp>
      <p:sp>
        <p:nvSpPr>
          <p:cNvPr id="2" name="Title Placeholder 1"/>
          <p:cNvSpPr>
            <a:spLocks noGrp="1"/>
          </p:cNvSpPr>
          <p:nvPr>
            <p:ph type="title"/>
          </p:nvPr>
        </p:nvSpPr>
        <p:spPr>
          <a:xfrm>
            <a:off x="521208" y="448056"/>
            <a:ext cx="6876288" cy="640080"/>
          </a:xfrm>
          <a:prstGeom prst="rect">
            <a:avLst/>
          </a:prstGeom>
        </p:spPr>
        <p:txBody>
          <a:bodyPr vert="horz" lIns="91440" tIns="45720" rIns="91440" bIns="45720" rtlCol="0" anchor="b" anchorCtr="0">
            <a:normAutofit/>
          </a:bodyPr>
          <a:lstStyle/>
          <a:p>
            <a:r>
              <a:rPr lang="en-US"/>
              <a:t>Click to edit Master title style</a:t>
            </a:r>
            <a:endParaRPr lang="en-US" dirty="0"/>
          </a:p>
        </p:txBody>
      </p:sp>
      <p:sp>
        <p:nvSpPr>
          <p:cNvPr id="3" name="Text Placeholder 2"/>
          <p:cNvSpPr>
            <a:spLocks noGrp="1"/>
          </p:cNvSpPr>
          <p:nvPr>
            <p:ph type="body" idx="1"/>
          </p:nvPr>
        </p:nvSpPr>
        <p:spPr>
          <a:xfrm>
            <a:off x="539496" y="1435608"/>
            <a:ext cx="4416552" cy="397764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539496" y="6203952"/>
            <a:ext cx="3276600" cy="365125"/>
          </a:xfrm>
          <a:prstGeom prst="rect">
            <a:avLst/>
          </a:prstGeom>
        </p:spPr>
        <p:txBody>
          <a:bodyPr vert="horz" lIns="91440" tIns="45720" rIns="91440" bIns="45720" rtlCol="0" anchor="ctr"/>
          <a:lstStyle>
            <a:lvl1pPr algn="l">
              <a:defRPr sz="1200" baseline="0">
                <a:solidFill>
                  <a:schemeClr val="tx1">
                    <a:lumMod val="65000"/>
                    <a:lumOff val="35000"/>
                  </a:schemeClr>
                </a:solidFill>
              </a:defRPr>
            </a:lvl1pPr>
          </a:lstStyle>
          <a:p>
            <a:fld id="{8BEEBAAA-29B5-4AF5-BC5F-7E580C29002D}" type="datetimeFigureOut">
              <a:rPr lang="en-US" smtClean="0"/>
              <a:pPr/>
              <a:t>4/30/2026</a:t>
            </a:fld>
            <a:endParaRPr lang="en-US" dirty="0"/>
          </a:p>
        </p:txBody>
      </p:sp>
      <p:sp>
        <p:nvSpPr>
          <p:cNvPr id="5" name="Footer Placeholder 4"/>
          <p:cNvSpPr>
            <a:spLocks noGrp="1"/>
          </p:cNvSpPr>
          <p:nvPr>
            <p:ph type="ftr" sz="quarter" idx="3"/>
          </p:nvPr>
        </p:nvSpPr>
        <p:spPr>
          <a:xfrm>
            <a:off x="4648200" y="6203952"/>
            <a:ext cx="2895600" cy="365125"/>
          </a:xfrm>
          <a:prstGeom prst="rect">
            <a:avLst/>
          </a:prstGeom>
        </p:spPr>
        <p:txBody>
          <a:bodyPr vert="horz" lIns="91440" tIns="45720" rIns="91440" bIns="45720" rtlCol="0" anchor="ctr"/>
          <a:lstStyle>
            <a:lvl1pPr algn="ctr">
              <a:defRPr sz="1200" baseline="0">
                <a:solidFill>
                  <a:schemeClr val="tx1">
                    <a:lumMod val="65000"/>
                    <a:lumOff val="35000"/>
                  </a:schemeClr>
                </a:solidFill>
              </a:defRPr>
            </a:lvl1pPr>
          </a:lstStyle>
          <a:p>
            <a:endParaRPr lang="en-US" dirty="0"/>
          </a:p>
        </p:txBody>
      </p:sp>
      <p:sp>
        <p:nvSpPr>
          <p:cNvPr id="6" name="Slide Number Placeholder 5"/>
          <p:cNvSpPr>
            <a:spLocks noGrp="1"/>
          </p:cNvSpPr>
          <p:nvPr>
            <p:ph type="sldNum" sz="quarter" idx="4"/>
          </p:nvPr>
        </p:nvSpPr>
        <p:spPr>
          <a:xfrm>
            <a:off x="8375904" y="6203952"/>
            <a:ext cx="3276600" cy="365125"/>
          </a:xfrm>
          <a:prstGeom prst="rect">
            <a:avLst/>
          </a:prstGeom>
        </p:spPr>
        <p:txBody>
          <a:bodyPr vert="horz" lIns="91440" tIns="45720" rIns="91440" bIns="45720" rtlCol="0" anchor="ctr"/>
          <a:lstStyle>
            <a:lvl1pPr algn="r">
              <a:defRPr sz="1200" baseline="0">
                <a:solidFill>
                  <a:schemeClr val="tx1">
                    <a:lumMod val="65000"/>
                    <a:lumOff val="35000"/>
                  </a:schemeClr>
                </a:solidFill>
              </a:defRPr>
            </a:lvl1pPr>
          </a:lstStyle>
          <a:p>
            <a:fld id="{9860EDB8-5305-433F-BE41-D7A86D811DB3}" type="slidenum">
              <a:rPr lang="en-US" smtClean="0"/>
              <a:pPr/>
              <a:t>‹#›</a:t>
            </a:fld>
            <a:endParaRPr lang="en-US" dirty="0"/>
          </a:p>
        </p:txBody>
      </p:sp>
      <p:cxnSp>
        <p:nvCxnSpPr>
          <p:cNvPr id="8" name="Straight Connector 7"/>
          <p:cNvCxnSpPr/>
          <p:nvPr userDrawn="1"/>
        </p:nvCxnSpPr>
        <p:spPr>
          <a:xfrm>
            <a:off x="604434" y="1196392"/>
            <a:ext cx="10983132" cy="0"/>
          </a:xfrm>
          <a:prstGeom prst="line">
            <a:avLst/>
          </a:prstGeom>
          <a:ln w="25400">
            <a:solidFill>
              <a:srgbClr val="D24726"/>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4675494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Lst>
  <p:txStyles>
    <p:titleStyle>
      <a:lvl1pPr algn="l" defTabSz="914400" rtl="0" eaLnBrk="1" latinLnBrk="0" hangingPunct="1">
        <a:spcBef>
          <a:spcPct val="0"/>
        </a:spcBef>
        <a:buNone/>
        <a:defRPr sz="2800" kern="1200">
          <a:solidFill>
            <a:schemeClr val="tx1"/>
          </a:solidFill>
          <a:latin typeface="+mj-lt"/>
          <a:ea typeface="+mj-ea"/>
          <a:cs typeface="+mj-cs"/>
        </a:defRPr>
      </a:lvl1pPr>
    </p:titleStyle>
    <p:bodyStyle>
      <a:lvl1pPr marL="0" indent="0" algn="l" defTabSz="914400" rtl="0" eaLnBrk="1" latinLnBrk="0" hangingPunct="1">
        <a:lnSpc>
          <a:spcPct val="150000"/>
        </a:lnSpc>
        <a:spcBef>
          <a:spcPts val="1000"/>
        </a:spcBef>
        <a:spcAft>
          <a:spcPts val="1200"/>
        </a:spcAft>
        <a:buFontTx/>
        <a:buNone/>
        <a:defRPr lang="en-US" sz="1200" kern="1200" dirty="0">
          <a:solidFill>
            <a:schemeClr val="tx1"/>
          </a:solidFill>
          <a:latin typeface="+mn-lt"/>
          <a:ea typeface="+mn-ea"/>
          <a:cs typeface="+mn-cs"/>
        </a:defRPr>
      </a:lvl1pPr>
      <a:lvl2pPr marL="228600" indent="-228600" algn="l" defTabSz="914400" rtl="0" eaLnBrk="1" latinLnBrk="0" hangingPunct="1">
        <a:lnSpc>
          <a:spcPct val="150000"/>
        </a:lnSpc>
        <a:spcBef>
          <a:spcPts val="1000"/>
        </a:spcBef>
        <a:spcAft>
          <a:spcPts val="1200"/>
        </a:spcAft>
        <a:buFont typeface="Arial" panose="020B0604020202020204" pitchFamily="34" charset="0"/>
        <a:buChar char="•"/>
        <a:defRPr lang="en-US" sz="1200" kern="1200" dirty="0">
          <a:solidFill>
            <a:schemeClr val="tx1"/>
          </a:solidFill>
          <a:latin typeface="+mn-lt"/>
          <a:ea typeface="+mn-ea"/>
          <a:cs typeface="+mn-cs"/>
        </a:defRPr>
      </a:lvl2pPr>
      <a:lvl3pPr marL="685800" indent="-228600" algn="l" defTabSz="914400" rtl="0" eaLnBrk="1" latinLnBrk="0" hangingPunct="1">
        <a:lnSpc>
          <a:spcPct val="150000"/>
        </a:lnSpc>
        <a:spcBef>
          <a:spcPts val="1000"/>
        </a:spcBef>
        <a:spcAft>
          <a:spcPts val="1200"/>
        </a:spcAft>
        <a:buFont typeface="Arial" panose="020B0604020202020204" pitchFamily="34" charset="0"/>
        <a:buChar char="•"/>
        <a:defRPr lang="en-US" sz="1200" kern="1200" dirty="0">
          <a:solidFill>
            <a:schemeClr val="tx1"/>
          </a:solidFill>
          <a:latin typeface="+mn-lt"/>
          <a:ea typeface="+mn-ea"/>
          <a:cs typeface="+mn-cs"/>
        </a:defRPr>
      </a:lvl3pPr>
      <a:lvl4pPr marL="1143000" indent="-228600" algn="l" defTabSz="914400" rtl="0" eaLnBrk="1" latinLnBrk="0" hangingPunct="1">
        <a:lnSpc>
          <a:spcPct val="150000"/>
        </a:lnSpc>
        <a:spcBef>
          <a:spcPts val="1000"/>
        </a:spcBef>
        <a:spcAft>
          <a:spcPts val="1200"/>
        </a:spcAft>
        <a:buFont typeface="Arial" panose="020B0604020202020204" pitchFamily="34" charset="0"/>
        <a:buChar char="•"/>
        <a:defRPr lang="en-US" sz="1200" kern="1200" dirty="0" smtClean="0">
          <a:solidFill>
            <a:schemeClr val="tx1"/>
          </a:solidFill>
          <a:latin typeface="+mn-lt"/>
          <a:ea typeface="+mn-ea"/>
          <a:cs typeface="+mn-cs"/>
        </a:defRPr>
      </a:lvl4pPr>
      <a:lvl5pPr marL="1600200" indent="-228600" algn="l" defTabSz="914400" rtl="0" eaLnBrk="1" latinLnBrk="0" hangingPunct="1">
        <a:lnSpc>
          <a:spcPct val="150000"/>
        </a:lnSpc>
        <a:spcBef>
          <a:spcPts val="1000"/>
        </a:spcBef>
        <a:spcAft>
          <a:spcPts val="1200"/>
        </a:spcAft>
        <a:buFont typeface="Arial" panose="020B0604020202020204" pitchFamily="34" charset="0"/>
        <a:buChar char="•"/>
        <a:defRPr lang="en-US" sz="1200" kern="1200" dirty="0" smtClean="0">
          <a:solidFill>
            <a:schemeClr val="tx1"/>
          </a:solidFill>
          <a:latin typeface="+mn-lt"/>
          <a:ea typeface="+mn-ea"/>
          <a:cs typeface="+mn-cs"/>
        </a:defRPr>
      </a:lvl5pPr>
      <a:lvl6pPr marL="2057400" indent="-228600" algn="l" defTabSz="914400" rtl="0" eaLnBrk="1" latinLnBrk="0" hangingPunct="1">
        <a:lnSpc>
          <a:spcPct val="150000"/>
        </a:lnSpc>
        <a:spcBef>
          <a:spcPts val="1000"/>
        </a:spcBef>
        <a:spcAft>
          <a:spcPts val="1200"/>
        </a:spcAft>
        <a:buFont typeface="Arial" panose="020B0604020202020204" pitchFamily="34" charset="0"/>
        <a:buChar char="•"/>
        <a:defRPr lang="en-US" sz="1200" kern="1200" dirty="0" smtClean="0">
          <a:solidFill>
            <a:schemeClr val="tx1"/>
          </a:solidFill>
          <a:latin typeface="+mn-lt"/>
          <a:ea typeface="+mn-ea"/>
          <a:cs typeface="+mn-cs"/>
        </a:defRPr>
      </a:lvl6pPr>
      <a:lvl7pPr marL="2514600" indent="-228600" algn="l" defTabSz="914400" rtl="0" eaLnBrk="1" latinLnBrk="0" hangingPunct="1">
        <a:lnSpc>
          <a:spcPct val="150000"/>
        </a:lnSpc>
        <a:spcBef>
          <a:spcPts val="1000"/>
        </a:spcBef>
        <a:spcAft>
          <a:spcPts val="1200"/>
        </a:spcAft>
        <a:buFont typeface="Arial" panose="020B0604020202020204" pitchFamily="34" charset="0"/>
        <a:buChar char="•"/>
        <a:defRPr lang="en-US" sz="1200" kern="1200" dirty="0" smtClean="0">
          <a:solidFill>
            <a:schemeClr val="tx1"/>
          </a:solidFill>
          <a:latin typeface="+mn-lt"/>
          <a:ea typeface="+mn-ea"/>
          <a:cs typeface="+mn-cs"/>
        </a:defRPr>
      </a:lvl7pPr>
      <a:lvl8pPr marL="2971800" indent="-228600" algn="l" defTabSz="914400" rtl="0" eaLnBrk="1" latinLnBrk="0" hangingPunct="1">
        <a:lnSpc>
          <a:spcPct val="150000"/>
        </a:lnSpc>
        <a:spcBef>
          <a:spcPts val="1000"/>
        </a:spcBef>
        <a:spcAft>
          <a:spcPts val="1200"/>
        </a:spcAft>
        <a:buFont typeface="Arial" panose="020B0604020202020204" pitchFamily="34" charset="0"/>
        <a:buChar char="•"/>
        <a:defRPr lang="en-US" sz="1200" kern="1200" dirty="0" smtClean="0">
          <a:solidFill>
            <a:schemeClr val="tx1"/>
          </a:solidFill>
          <a:latin typeface="+mn-lt"/>
          <a:ea typeface="+mn-ea"/>
          <a:cs typeface="+mn-cs"/>
        </a:defRPr>
      </a:lvl8pPr>
      <a:lvl9pPr marL="3429000" indent="-228600" algn="l" defTabSz="914400" rtl="0" eaLnBrk="1" latinLnBrk="0" hangingPunct="1">
        <a:lnSpc>
          <a:spcPct val="90000"/>
        </a:lnSpc>
        <a:spcBef>
          <a:spcPct val="30000"/>
        </a:spcBef>
        <a:buFont typeface="Arial" panose="020B0604020202020204" pitchFamily="34" charset="0"/>
        <a:buNone/>
        <a:defRPr sz="12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slideLayout" Target="../slideLayouts/slideLayout2.xml"/><Relationship Id="rId4" Type="http://schemas.openxmlformats.org/officeDocument/2006/relationships/image" Target="../media/image5.jpeg"/></Relationships>
</file>

<file path=ppt/slides/_rels/slide11.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8.jpeg"/><Relationship Id="rId1" Type="http://schemas.openxmlformats.org/officeDocument/2006/relationships/slideLayout" Target="../slideLayouts/slideLayout2.xml"/><Relationship Id="rId5" Type="http://schemas.openxmlformats.org/officeDocument/2006/relationships/image" Target="../media/image11.jpeg"/><Relationship Id="rId4" Type="http://schemas.openxmlformats.org/officeDocument/2006/relationships/image" Target="../media/image10.jpeg"/></Relationships>
</file>

<file path=ppt/slides/_rels/slide13.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image" Target="../media/image12.jpeg"/><Relationship Id="rId1" Type="http://schemas.openxmlformats.org/officeDocument/2006/relationships/slideLayout" Target="../slideLayouts/slideLayout2.xml"/><Relationship Id="rId4" Type="http://schemas.openxmlformats.org/officeDocument/2006/relationships/image" Target="../media/image14.jpe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hyperlink" Target="https://www.ijcaonline.org/archives/volume121/number9/21571-4609/" TargetMode="External"/><Relationship Id="rId2" Type="http://schemas.openxmlformats.org/officeDocument/2006/relationships/hyperlink" Target="https://doi.org/10.1016/j.physrep.2016.09.002" TargetMode="Externa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hyperlink" Target="https://www.picpedia.org/chalkboard/t/thank-you.html" TargetMode="External"/><Relationship Id="rId2" Type="http://schemas.openxmlformats.org/officeDocument/2006/relationships/image" Target="../media/image15.jpg"/><Relationship Id="rId1" Type="http://schemas.openxmlformats.org/officeDocument/2006/relationships/slideLayout" Target="../slideLayouts/slideLayout2.xml"/><Relationship Id="rId4" Type="http://schemas.openxmlformats.org/officeDocument/2006/relationships/hyperlink" Target="https://creativecommons.org/licenses/by-sa/3.0/" TargetMode="External"/></Relationships>
</file>

<file path=ppt/slides/slide1.xml><?xml version="1.0" encoding="utf-8"?>
<p:sld xmlns:a="http://schemas.openxmlformats.org/drawingml/2006/main" xmlns:r="http://schemas.openxmlformats.org/officeDocument/2006/relationships" xmlns:p="http://schemas.openxmlformats.org/presentationml/2006/main" showMasterSp="0">
  <p:cSld>
    <p:bg>
      <p:bgPr>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pic>
        <p:nvPicPr>
          <p:cNvPr id="2053" name="Image 33">
            <a:extLst>
              <a:ext uri="{FF2B5EF4-FFF2-40B4-BE49-F238E27FC236}">
                <a16:creationId xmlns:a16="http://schemas.microsoft.com/office/drawing/2014/main" id="{FF7977D0-F11A-A31B-5289-239CABDECE27}"/>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66394" y="1038224"/>
            <a:ext cx="2933700" cy="1273630"/>
          </a:xfrm>
          <a:prstGeom prst="rect">
            <a:avLst/>
          </a:prstGeom>
          <a:noFill/>
          <a:extLst>
            <a:ext uri="{909E8E84-426E-40DD-AFC4-6F175D3DCCD1}">
              <a14:hiddenFill xmlns:a14="http://schemas.microsoft.com/office/drawing/2010/main">
                <a:solidFill>
                  <a:srgbClr val="FFFFFF"/>
                </a:solidFill>
              </a14:hiddenFill>
            </a:ext>
          </a:extLst>
        </p:spPr>
      </p:pic>
      <p:grpSp>
        <p:nvGrpSpPr>
          <p:cNvPr id="5" name="Group 4">
            <a:extLst>
              <a:ext uri="{FF2B5EF4-FFF2-40B4-BE49-F238E27FC236}">
                <a16:creationId xmlns:a16="http://schemas.microsoft.com/office/drawing/2014/main" id="{452CE3D6-5C08-A53E-AD32-2A61EBD301BB}"/>
              </a:ext>
            </a:extLst>
          </p:cNvPr>
          <p:cNvGrpSpPr>
            <a:grpSpLocks/>
          </p:cNvGrpSpPr>
          <p:nvPr/>
        </p:nvGrpSpPr>
        <p:grpSpPr>
          <a:xfrm>
            <a:off x="118836" y="725900"/>
            <a:ext cx="12073164" cy="204739"/>
            <a:chOff x="0" y="0"/>
            <a:chExt cx="7536815" cy="109855"/>
          </a:xfrm>
        </p:grpSpPr>
        <p:pic>
          <p:nvPicPr>
            <p:cNvPr id="6" name="Image 36">
              <a:extLst>
                <a:ext uri="{FF2B5EF4-FFF2-40B4-BE49-F238E27FC236}">
                  <a16:creationId xmlns:a16="http://schemas.microsoft.com/office/drawing/2014/main" id="{C663D501-1436-2E33-1165-6F0141547683}"/>
                </a:ext>
              </a:extLst>
            </p:cNvPr>
            <p:cNvPicPr/>
            <p:nvPr/>
          </p:nvPicPr>
          <p:blipFill>
            <a:blip r:embed="rId4" cstate="print"/>
            <a:stretch>
              <a:fillRect/>
            </a:stretch>
          </p:blipFill>
          <p:spPr>
            <a:xfrm>
              <a:off x="6350" y="6350"/>
              <a:ext cx="7523988" cy="97154"/>
            </a:xfrm>
            <a:prstGeom prst="rect">
              <a:avLst/>
            </a:prstGeom>
          </p:spPr>
        </p:pic>
        <p:sp>
          <p:nvSpPr>
            <p:cNvPr id="7" name="Graphic 37">
              <a:extLst>
                <a:ext uri="{FF2B5EF4-FFF2-40B4-BE49-F238E27FC236}">
                  <a16:creationId xmlns:a16="http://schemas.microsoft.com/office/drawing/2014/main" id="{E98D614A-3B3B-7EEF-1C75-603FED8F51E0}"/>
                </a:ext>
              </a:extLst>
            </p:cNvPr>
            <p:cNvSpPr/>
            <p:nvPr/>
          </p:nvSpPr>
          <p:spPr>
            <a:xfrm>
              <a:off x="6350" y="97155"/>
              <a:ext cx="7524115" cy="12700"/>
            </a:xfrm>
            <a:custGeom>
              <a:avLst/>
              <a:gdLst/>
              <a:ahLst/>
              <a:cxnLst/>
              <a:rect l="l" t="t" r="r" b="b"/>
              <a:pathLst>
                <a:path w="7524115" h="12700">
                  <a:moveTo>
                    <a:pt x="0" y="12700"/>
                  </a:moveTo>
                  <a:lnTo>
                    <a:pt x="7523988" y="12700"/>
                  </a:lnTo>
                  <a:lnTo>
                    <a:pt x="7523988" y="0"/>
                  </a:lnTo>
                  <a:lnTo>
                    <a:pt x="0" y="0"/>
                  </a:lnTo>
                  <a:lnTo>
                    <a:pt x="0" y="12700"/>
                  </a:lnTo>
                  <a:close/>
                </a:path>
              </a:pathLst>
            </a:custGeom>
            <a:solidFill>
              <a:srgbClr val="F1F1F1"/>
            </a:solidFill>
          </p:spPr>
          <p:txBody>
            <a:bodyPr wrap="square" lIns="0" tIns="0" rIns="0" bIns="0" rtlCol="0">
              <a:prstTxWarp prst="textNoShape">
                <a:avLst/>
              </a:prstTxWarp>
              <a:noAutofit/>
            </a:bodyPr>
            <a:lstStyle/>
            <a:p>
              <a:endParaRPr lang="en-IN"/>
            </a:p>
          </p:txBody>
        </p:sp>
        <p:sp>
          <p:nvSpPr>
            <p:cNvPr id="8" name="Graphic 38">
              <a:extLst>
                <a:ext uri="{FF2B5EF4-FFF2-40B4-BE49-F238E27FC236}">
                  <a16:creationId xmlns:a16="http://schemas.microsoft.com/office/drawing/2014/main" id="{2DF9FA43-75C7-17CA-0227-370897106D0A}"/>
                </a:ext>
              </a:extLst>
            </p:cNvPr>
            <p:cNvSpPr/>
            <p:nvPr/>
          </p:nvSpPr>
          <p:spPr>
            <a:xfrm>
              <a:off x="6350" y="6350"/>
              <a:ext cx="7524115" cy="97155"/>
            </a:xfrm>
            <a:custGeom>
              <a:avLst/>
              <a:gdLst/>
              <a:ahLst/>
              <a:cxnLst/>
              <a:rect l="l" t="t" r="r" b="b"/>
              <a:pathLst>
                <a:path w="7524115" h="97155">
                  <a:moveTo>
                    <a:pt x="7523988" y="0"/>
                  </a:moveTo>
                  <a:lnTo>
                    <a:pt x="0" y="0"/>
                  </a:lnTo>
                  <a:lnTo>
                    <a:pt x="0" y="97154"/>
                  </a:lnTo>
                </a:path>
              </a:pathLst>
            </a:custGeom>
            <a:ln w="12699">
              <a:solidFill>
                <a:srgbClr val="F1F1F1"/>
              </a:solidFill>
              <a:prstDash val="solid"/>
            </a:ln>
          </p:spPr>
          <p:txBody>
            <a:bodyPr wrap="square" lIns="0" tIns="0" rIns="0" bIns="0" rtlCol="0">
              <a:prstTxWarp prst="textNoShape">
                <a:avLst/>
              </a:prstTxWarp>
              <a:noAutofit/>
            </a:bodyPr>
            <a:lstStyle/>
            <a:p>
              <a:endParaRPr lang="en-IN"/>
            </a:p>
          </p:txBody>
        </p:sp>
      </p:grpSp>
      <p:sp>
        <p:nvSpPr>
          <p:cNvPr id="9" name="Textbox 39">
            <a:extLst>
              <a:ext uri="{FF2B5EF4-FFF2-40B4-BE49-F238E27FC236}">
                <a16:creationId xmlns:a16="http://schemas.microsoft.com/office/drawing/2014/main" id="{219C6E15-2B3F-F688-EB96-A541B13D2CCC}"/>
              </a:ext>
            </a:extLst>
          </p:cNvPr>
          <p:cNvSpPr txBox="1">
            <a:spLocks noChangeArrowheads="1"/>
          </p:cNvSpPr>
          <p:nvPr/>
        </p:nvSpPr>
        <p:spPr bwMode="auto">
          <a:xfrm>
            <a:off x="3800094" y="1128032"/>
            <a:ext cx="6716484" cy="1163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indent="249238"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195263" algn="ctr" defTabSz="914400" rtl="0" eaLnBrk="0" fontAlgn="base" latinLnBrk="0" hangingPunct="0">
              <a:lnSpc>
                <a:spcPct val="100000"/>
              </a:lnSpc>
              <a:spcBef>
                <a:spcPct val="0"/>
              </a:spcBef>
              <a:spcAft>
                <a:spcPct val="0"/>
              </a:spcAft>
              <a:buClrTx/>
              <a:buSzTx/>
              <a:buFontTx/>
              <a:buNone/>
              <a:tabLst/>
            </a:pPr>
            <a:r>
              <a:rPr kumimoji="0" lang="en-US" altLang="en-US" sz="2400" b="1" i="0" u="none" strike="noStrike" cap="none" normalizeH="0" baseline="0" dirty="0">
                <a:ln>
                  <a:noFill/>
                </a:ln>
                <a:solidFill>
                  <a:srgbClr val="FF0066"/>
                </a:solidFill>
                <a:effectLst/>
                <a:latin typeface="Calibri" panose="020F0502020204030204" pitchFamily="34" charset="0"/>
                <a:ea typeface="Calibri" panose="020F0502020204030204" pitchFamily="34" charset="0"/>
                <a:cs typeface="Times New Roman" panose="02020603050405020304" pitchFamily="18" charset="0"/>
              </a:rPr>
              <a:t>MOHAN BABU UNIVERSITY</a:t>
            </a:r>
            <a:endParaRPr kumimoji="0" lang="en-US" altLang="en-US" sz="2400" b="0" i="0" u="none" strike="noStrike" cap="none" normalizeH="0" baseline="0" dirty="0">
              <a:ln>
                <a:noFill/>
              </a:ln>
              <a:solidFill>
                <a:schemeClr val="tx1"/>
              </a:solidFill>
              <a:effectLst/>
            </a:endParaRPr>
          </a:p>
          <a:p>
            <a:pPr marL="0" marR="0" lvl="0" indent="249238" algn="ctr"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Sree Sainath Nagar, Tirupati – 517102</a:t>
            </a:r>
            <a:endParaRPr kumimoji="0" lang="en-US" altLang="en-US" sz="2400" b="0" i="0" u="none" strike="noStrike" cap="none" normalizeH="0" baseline="0" dirty="0">
              <a:ln>
                <a:noFill/>
              </a:ln>
              <a:solidFill>
                <a:schemeClr val="tx1"/>
              </a:solidFill>
              <a:effectLst/>
            </a:endParaRPr>
          </a:p>
          <a:p>
            <a:pPr marL="0" marR="0" lvl="0" indent="249238" algn="ctr" defTabSz="914400" rtl="0" eaLnBrk="0" fontAlgn="base" latinLnBrk="0" hangingPunct="0">
              <a:lnSpc>
                <a:spcPct val="100000"/>
              </a:lnSpc>
              <a:spcBef>
                <a:spcPct val="0"/>
              </a:spcBef>
              <a:spcAft>
                <a:spcPct val="0"/>
              </a:spcAft>
              <a:buClrTx/>
              <a:buSzTx/>
              <a:buFontTx/>
              <a:buNone/>
              <a:tabLst/>
            </a:pPr>
            <a:r>
              <a:rPr kumimoji="0" lang="en-US" altLang="en-US" sz="24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DEPARTMENT OF COMPUTER APPLICATIONS</a:t>
            </a:r>
            <a:endParaRPr kumimoji="0" lang="en-US" altLang="en-US" sz="2400" b="0" i="0" u="none" strike="noStrike" cap="none" normalizeH="0" baseline="0" dirty="0">
              <a:ln>
                <a:noFill/>
              </a:ln>
              <a:solidFill>
                <a:schemeClr val="tx1"/>
              </a:solidFill>
              <a:effectLst/>
            </a:endParaRPr>
          </a:p>
        </p:txBody>
      </p:sp>
      <p:sp>
        <p:nvSpPr>
          <p:cNvPr id="10" name="Rectangle 7">
            <a:extLst>
              <a:ext uri="{FF2B5EF4-FFF2-40B4-BE49-F238E27FC236}">
                <a16:creationId xmlns:a16="http://schemas.microsoft.com/office/drawing/2014/main" id="{6C314A7B-4A18-D0CD-EBBE-0BF9506C4812}"/>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
        <p:nvSpPr>
          <p:cNvPr id="11" name="Rectangle 8">
            <a:extLst>
              <a:ext uri="{FF2B5EF4-FFF2-40B4-BE49-F238E27FC236}">
                <a16:creationId xmlns:a16="http://schemas.microsoft.com/office/drawing/2014/main" id="{0C313FB0-083A-841A-92D8-0D3B912C7395}"/>
              </a:ext>
            </a:extLst>
          </p:cNvPr>
          <p:cNvSpPr>
            <a:spLocks noChangeArrowheads="1"/>
          </p:cNvSpPr>
          <p:nvPr/>
        </p:nvSpPr>
        <p:spPr bwMode="auto">
          <a:xfrm>
            <a:off x="0" y="4572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
        <p:nvSpPr>
          <p:cNvPr id="14" name="TextBox 13">
            <a:extLst>
              <a:ext uri="{FF2B5EF4-FFF2-40B4-BE49-F238E27FC236}">
                <a16:creationId xmlns:a16="http://schemas.microsoft.com/office/drawing/2014/main" id="{876E38E9-F013-6A80-C65B-7049F72DD204}"/>
              </a:ext>
            </a:extLst>
          </p:cNvPr>
          <p:cNvSpPr txBox="1"/>
          <p:nvPr/>
        </p:nvSpPr>
        <p:spPr>
          <a:xfrm>
            <a:off x="1108119" y="2381615"/>
            <a:ext cx="9797142" cy="4278094"/>
          </a:xfrm>
          <a:prstGeom prst="rect">
            <a:avLst/>
          </a:prstGeom>
          <a:noFill/>
        </p:spPr>
        <p:txBody>
          <a:bodyPr wrap="square" rtlCol="0">
            <a:spAutoFit/>
          </a:bodyPr>
          <a:lstStyle/>
          <a:p>
            <a:pPr algn="ctr"/>
            <a:r>
              <a:rPr lang="en-US" sz="2800" b="1" dirty="0"/>
              <a:t>Community Detection In Online Social Media Using Social Networking Analysis</a:t>
            </a:r>
          </a:p>
          <a:p>
            <a:pPr algn="ctr"/>
            <a:endParaRPr lang="en-US" b="1" dirty="0"/>
          </a:p>
          <a:p>
            <a:r>
              <a:rPr lang="en-US" b="1" dirty="0"/>
              <a:t>        ROLL NO :   </a:t>
            </a:r>
            <a:r>
              <a:rPr lang="en-US" dirty="0"/>
              <a:t>23102C010114     (  K. Reddy </a:t>
            </a:r>
            <a:r>
              <a:rPr lang="en-US" dirty="0" err="1"/>
              <a:t>Theja</a:t>
            </a:r>
            <a:r>
              <a:rPr lang="en-US" dirty="0"/>
              <a:t>   )	</a:t>
            </a:r>
          </a:p>
          <a:p>
            <a:r>
              <a:rPr lang="en-US" dirty="0"/>
              <a:t>                               23102C010137    (   D. Manisha        )</a:t>
            </a:r>
          </a:p>
          <a:p>
            <a:r>
              <a:rPr lang="en-US" dirty="0"/>
              <a:t>                               23102C010173    (  P. S.G. Hafeefa    ) </a:t>
            </a:r>
          </a:p>
          <a:p>
            <a:r>
              <a:rPr lang="en-US" dirty="0"/>
              <a:t>                               23102C010191    (  B. Bhavya Sree   ) </a:t>
            </a:r>
            <a:endParaRPr lang="en-US" b="1" dirty="0"/>
          </a:p>
          <a:p>
            <a:r>
              <a:rPr lang="en-US" b="1" dirty="0"/>
              <a:t>                                                        </a:t>
            </a:r>
          </a:p>
          <a:p>
            <a:r>
              <a:rPr lang="en-US" b="1" dirty="0"/>
              <a:t>       PROJECT SUPERVISOR : </a:t>
            </a:r>
            <a:r>
              <a:rPr lang="en-US" dirty="0"/>
              <a:t> Dr.  </a:t>
            </a:r>
            <a:r>
              <a:rPr lang="en-US" dirty="0" err="1"/>
              <a:t>Aaquib</a:t>
            </a:r>
            <a:r>
              <a:rPr lang="en-US" dirty="0"/>
              <a:t> Hussain Ganai</a:t>
            </a:r>
            <a:r>
              <a:rPr lang="en-IN" b="1" dirty="0"/>
              <a:t> </a:t>
            </a:r>
          </a:p>
          <a:p>
            <a:endParaRPr lang="en-IN" b="1" dirty="0"/>
          </a:p>
          <a:p>
            <a:r>
              <a:rPr lang="en-IN" b="1" dirty="0"/>
              <a:t> </a:t>
            </a:r>
            <a:r>
              <a:rPr lang="en-US" b="1" dirty="0"/>
              <a:t>      BRANCH :  </a:t>
            </a:r>
            <a:r>
              <a:rPr lang="en-US" dirty="0"/>
              <a:t>Bachelor Of Computer Applications</a:t>
            </a:r>
          </a:p>
          <a:p>
            <a:endParaRPr lang="en-US" b="1" dirty="0"/>
          </a:p>
          <a:p>
            <a:r>
              <a:rPr lang="en-US" b="1" dirty="0"/>
              <a:t>       SECTION :  </a:t>
            </a:r>
            <a:r>
              <a:rPr lang="en-US" dirty="0"/>
              <a:t>3 , 4</a:t>
            </a:r>
            <a:r>
              <a:rPr lang="en-US" b="1" dirty="0"/>
              <a:t>			                                     BATCH NUMBER : </a:t>
            </a:r>
            <a:r>
              <a:rPr lang="en-US" dirty="0"/>
              <a:t>43</a:t>
            </a:r>
          </a:p>
          <a:p>
            <a:endParaRPr lang="en-US" b="1" dirty="0"/>
          </a:p>
        </p:txBody>
      </p:sp>
    </p:spTree>
    <p:extLst>
      <p:ext uri="{BB962C8B-B14F-4D97-AF65-F5344CB8AC3E}">
        <p14:creationId xmlns:p14="http://schemas.microsoft.com/office/powerpoint/2010/main" val="247180773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a:xfrm>
            <a:off x="745797" y="367845"/>
            <a:ext cx="6877119" cy="640080"/>
          </a:xfrm>
        </p:spPr>
        <p:txBody>
          <a:bodyPr>
            <a:noAutofit/>
          </a:bodyPr>
          <a:lstStyle/>
          <a:p>
            <a:r>
              <a:rPr lang="en-US" b="1" dirty="0">
                <a:latin typeface="Segoe UI Light" panose="020B0502040204020203" pitchFamily="34" charset="0"/>
                <a:cs typeface="Segoe UI Light" panose="020B0502040204020203" pitchFamily="34" charset="0"/>
              </a:rPr>
              <a:t>ABSTRACT</a:t>
            </a:r>
          </a:p>
        </p:txBody>
      </p:sp>
      <p:sp>
        <p:nvSpPr>
          <p:cNvPr id="38" name="Content Placeholder 17"/>
          <p:cNvSpPr txBox="1">
            <a:spLocks/>
          </p:cNvSpPr>
          <p:nvPr/>
        </p:nvSpPr>
        <p:spPr>
          <a:xfrm>
            <a:off x="541609" y="1305069"/>
            <a:ext cx="11108781" cy="4779839"/>
          </a:xfrm>
          <a:prstGeom prst="rect">
            <a:avLst/>
          </a:prstGeom>
        </p:spPr>
        <p:txBody>
          <a:bodyPr vert="horz" lIns="91440" tIns="45720" rIns="91440" bIns="45720" rtlCol="0">
            <a:normAutofit/>
          </a:bodyPr>
          <a:lstStyle>
            <a:lvl1pPr marL="2286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1pPr>
            <a:lvl2pPr marL="6858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2pPr>
            <a:lvl3pPr marL="11430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3pPr>
            <a:lvl4pPr marL="16002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4pPr>
            <a:lvl5pPr marL="20574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9pPr>
          </a:lstStyle>
          <a:p>
            <a:pPr marL="0" lvl="0" indent="0">
              <a:spcAft>
                <a:spcPts val="600"/>
              </a:spcAft>
              <a:buNone/>
              <a:defRPr/>
            </a:pPr>
            <a:endParaRPr lang="en-US" dirty="0">
              <a:latin typeface="Segoe UI" panose="020B0502040204020203" pitchFamily="34" charset="0"/>
              <a:cs typeface="Segoe UI" panose="020B0502040204020203" pitchFamily="34" charset="0"/>
            </a:endParaRPr>
          </a:p>
        </p:txBody>
      </p:sp>
      <p:sp>
        <p:nvSpPr>
          <p:cNvPr id="3" name="TextBox 2">
            <a:extLst>
              <a:ext uri="{FF2B5EF4-FFF2-40B4-BE49-F238E27FC236}">
                <a16:creationId xmlns:a16="http://schemas.microsoft.com/office/drawing/2014/main" id="{A8A91434-A21B-EC3E-09E1-B6FCCCC6A9F5}"/>
              </a:ext>
            </a:extLst>
          </p:cNvPr>
          <p:cNvSpPr txBox="1"/>
          <p:nvPr/>
        </p:nvSpPr>
        <p:spPr>
          <a:xfrm>
            <a:off x="541609" y="1305069"/>
            <a:ext cx="10479317" cy="3477875"/>
          </a:xfrm>
          <a:prstGeom prst="rect">
            <a:avLst/>
          </a:prstGeom>
          <a:noFill/>
        </p:spPr>
        <p:txBody>
          <a:bodyPr wrap="square">
            <a:spAutoFit/>
          </a:bodyPr>
          <a:lstStyle/>
          <a:p>
            <a:pPr algn="just">
              <a:lnSpc>
                <a:spcPct val="100000"/>
              </a:lnSpc>
            </a:pPr>
            <a:r>
              <a:rPr lang="en-US" sz="2000" dirty="0"/>
              <a:t>Group of users that are intra densely connected with each other are termed as the community over an online social network. People over an online social network group together in these communities and most of the time they share similar interests. In this project we are going to detect these communities over these online social networks using the techniques of Social Network Analysis (SNA) such as Clique Percolation Method, Random Walks and Louvain Methods. The proposed approach will be tested on real social network datasets, and the experimentation will be done in python. The empirical venture will show the best results and can have best implications in real world situations.</a:t>
            </a:r>
          </a:p>
          <a:p>
            <a:pPr algn="just">
              <a:lnSpc>
                <a:spcPct val="100000"/>
              </a:lnSpc>
            </a:pPr>
            <a:endParaRPr lang="en-IN" sz="2000" dirty="0"/>
          </a:p>
          <a:p>
            <a:pPr algn="just">
              <a:lnSpc>
                <a:spcPct val="100000"/>
              </a:lnSpc>
            </a:pPr>
            <a:r>
              <a:rPr lang="en-US" sz="2000" b="1" dirty="0"/>
              <a:t>Keywords</a:t>
            </a:r>
            <a:r>
              <a:rPr lang="en-US" sz="2000" dirty="0"/>
              <a:t>  : Online Social Networks, Social Graphs, Community Detection, Influential user , Social Network Analysis , Clique Percolation Method, Random Walks and Louvain Methods.</a:t>
            </a:r>
            <a:endParaRPr lang="en-US" sz="2000" dirty="0">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345761616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b="1" dirty="0">
                <a:latin typeface="Segoe UI Light" panose="020B0502040204020203" pitchFamily="34" charset="0"/>
                <a:cs typeface="Segoe UI Light" panose="020B0502040204020203" pitchFamily="34" charset="0"/>
              </a:rPr>
              <a:t>Contents</a:t>
            </a:r>
          </a:p>
        </p:txBody>
      </p:sp>
      <p:sp>
        <p:nvSpPr>
          <p:cNvPr id="3" name="TextBox 2">
            <a:extLst>
              <a:ext uri="{FF2B5EF4-FFF2-40B4-BE49-F238E27FC236}">
                <a16:creationId xmlns:a16="http://schemas.microsoft.com/office/drawing/2014/main" id="{6D2BEA25-8C25-C15F-9F98-69F81BDC4ECF}"/>
              </a:ext>
            </a:extLst>
          </p:cNvPr>
          <p:cNvSpPr txBox="1"/>
          <p:nvPr/>
        </p:nvSpPr>
        <p:spPr>
          <a:xfrm>
            <a:off x="641684" y="1397675"/>
            <a:ext cx="7603958" cy="3046988"/>
          </a:xfrm>
          <a:prstGeom prst="rect">
            <a:avLst/>
          </a:prstGeom>
          <a:noFill/>
        </p:spPr>
        <p:txBody>
          <a:bodyPr wrap="square">
            <a:spAutoFit/>
          </a:bodyPr>
          <a:lstStyle/>
          <a:p>
            <a:pPr marL="285750" indent="-285750">
              <a:buFont typeface="Arial" panose="020B0604020202020204" pitchFamily="34" charset="0"/>
              <a:buChar char="•"/>
            </a:pPr>
            <a:r>
              <a:rPr lang="en-US" sz="2400" dirty="0"/>
              <a:t>Abstract</a:t>
            </a:r>
          </a:p>
          <a:p>
            <a:pPr marL="285750" indent="-285750">
              <a:buFont typeface="Arial" panose="020B0604020202020204" pitchFamily="34" charset="0"/>
              <a:buChar char="•"/>
            </a:pPr>
            <a:r>
              <a:rPr lang="en-US" sz="2400" dirty="0"/>
              <a:t>Introduction</a:t>
            </a:r>
          </a:p>
          <a:p>
            <a:pPr marL="285750" indent="-285750">
              <a:buFont typeface="Arial" panose="020B0604020202020204" pitchFamily="34" charset="0"/>
              <a:buChar char="•"/>
            </a:pPr>
            <a:r>
              <a:rPr lang="en-US" sz="2400" dirty="0"/>
              <a:t>Review of Literature </a:t>
            </a:r>
          </a:p>
          <a:p>
            <a:pPr marL="285750" indent="-285750">
              <a:buFont typeface="Arial" panose="020B0604020202020204" pitchFamily="34" charset="0"/>
              <a:buChar char="•"/>
            </a:pPr>
            <a:r>
              <a:rPr lang="en-US" sz="2400" dirty="0"/>
              <a:t>Proposed System</a:t>
            </a:r>
          </a:p>
          <a:p>
            <a:pPr marL="285750" indent="-285750">
              <a:buFont typeface="Arial" panose="020B0604020202020204" pitchFamily="34" charset="0"/>
              <a:buChar char="•"/>
            </a:pPr>
            <a:r>
              <a:rPr lang="en-US" sz="2400" dirty="0"/>
              <a:t>Execution</a:t>
            </a:r>
          </a:p>
          <a:p>
            <a:pPr marL="285750" indent="-285750">
              <a:buFont typeface="Arial" panose="020B0604020202020204" pitchFamily="34" charset="0"/>
              <a:buChar char="•"/>
            </a:pPr>
            <a:r>
              <a:rPr lang="en-US" sz="2400" dirty="0"/>
              <a:t>Result</a:t>
            </a:r>
          </a:p>
          <a:p>
            <a:pPr marL="285750" indent="-285750">
              <a:buFont typeface="Arial" panose="020B0604020202020204" pitchFamily="34" charset="0"/>
              <a:buChar char="•"/>
            </a:pPr>
            <a:r>
              <a:rPr lang="en-US" sz="2400" dirty="0"/>
              <a:t>conclusion</a:t>
            </a:r>
          </a:p>
          <a:p>
            <a:pPr marL="285750" indent="-285750">
              <a:buFont typeface="Arial" panose="020B0604020202020204" pitchFamily="34" charset="0"/>
              <a:buChar char="•"/>
            </a:pPr>
            <a:r>
              <a:rPr lang="en-US" sz="2400" dirty="0"/>
              <a:t>References </a:t>
            </a:r>
          </a:p>
        </p:txBody>
      </p:sp>
    </p:spTree>
    <p:extLst>
      <p:ext uri="{BB962C8B-B14F-4D97-AF65-F5344CB8AC3E}">
        <p14:creationId xmlns:p14="http://schemas.microsoft.com/office/powerpoint/2010/main" val="110700175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b="1" dirty="0">
                <a:latin typeface="Segoe UI Light" panose="020B0502040204020203" pitchFamily="34" charset="0"/>
                <a:cs typeface="Segoe UI Light" panose="020B0502040204020203" pitchFamily="34" charset="0"/>
              </a:rPr>
              <a:t>Introduction</a:t>
            </a:r>
          </a:p>
        </p:txBody>
      </p:sp>
      <p:sp>
        <p:nvSpPr>
          <p:cNvPr id="6" name="Rectangle 1">
            <a:extLst>
              <a:ext uri="{FF2B5EF4-FFF2-40B4-BE49-F238E27FC236}">
                <a16:creationId xmlns:a16="http://schemas.microsoft.com/office/drawing/2014/main" id="{BC54AFEB-4706-C3D1-6C91-6CF56B39D112}"/>
              </a:ext>
            </a:extLst>
          </p:cNvPr>
          <p:cNvSpPr>
            <a:spLocks noChangeArrowheads="1"/>
          </p:cNvSpPr>
          <p:nvPr/>
        </p:nvSpPr>
        <p:spPr bwMode="auto">
          <a:xfrm>
            <a:off x="440184" y="1243786"/>
            <a:ext cx="11030327" cy="43704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Online Social Networks (OSNs) like Twitter, Facebook, and Instagram generate massive user interaction data.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Users are connected through follows, likes, comments, and shares, forming complex networks.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A key feature of these networks is </a:t>
            </a:r>
            <a:r>
              <a:rPr kumimoji="0" lang="en-US" altLang="en-US" sz="2000" b="1" i="0" u="none" strike="noStrike" cap="none" normalizeH="0" baseline="0" dirty="0">
                <a:ln>
                  <a:noFill/>
                </a:ln>
                <a:solidFill>
                  <a:schemeClr val="tx1"/>
                </a:solidFill>
                <a:effectLst/>
                <a:latin typeface="Arial" panose="020B0604020202020204" pitchFamily="34" charset="0"/>
              </a:rPr>
              <a:t>communities</a:t>
            </a:r>
            <a:r>
              <a:rPr kumimoji="0" lang="en-US" altLang="en-US" sz="2000" b="0" i="0" u="none" strike="noStrike" cap="none" normalizeH="0" baseline="0" dirty="0">
                <a:ln>
                  <a:noFill/>
                </a:ln>
                <a:solidFill>
                  <a:schemeClr val="tx1"/>
                </a:solidFill>
                <a:effectLst/>
                <a:latin typeface="Arial" panose="020B0604020202020204" pitchFamily="34" charset="0"/>
              </a:rPr>
              <a:t> — groups of users closely connected with similar interests or behaviors.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Community detection helps understand </a:t>
            </a:r>
            <a:r>
              <a:rPr kumimoji="0" lang="en-US" altLang="en-US" sz="2000" b="1" i="0" u="none" strike="noStrike" cap="none" normalizeH="0" baseline="0" dirty="0">
                <a:ln>
                  <a:noFill/>
                </a:ln>
                <a:solidFill>
                  <a:schemeClr val="tx1"/>
                </a:solidFill>
                <a:effectLst/>
                <a:latin typeface="Arial" panose="020B0604020202020204" pitchFamily="34" charset="0"/>
              </a:rPr>
              <a:t>information flow, user influence, and group behavior</a:t>
            </a:r>
            <a:r>
              <a:rPr kumimoji="0" lang="en-US" altLang="en-US" sz="2000" b="0" i="0" u="none" strike="noStrike" cap="none" normalizeH="0" baseline="0" dirty="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Recommendation systems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Targeted advertising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Viral marketing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Detecting harmful activities (e.g., hate speech)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OSNs spread information faster than traditional media, making community detection highly important. </a:t>
            </a:r>
          </a:p>
        </p:txBody>
      </p:sp>
    </p:spTree>
    <p:extLst>
      <p:ext uri="{BB962C8B-B14F-4D97-AF65-F5344CB8AC3E}">
        <p14:creationId xmlns:p14="http://schemas.microsoft.com/office/powerpoint/2010/main" val="95803687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b="1" dirty="0"/>
              <a:t>Review of Literature</a:t>
            </a:r>
            <a:endParaRPr lang="en-US" b="1" dirty="0">
              <a:latin typeface="Segoe UI Light" panose="020B0502040204020203" pitchFamily="34" charset="0"/>
              <a:cs typeface="Segoe UI Light" panose="020B0502040204020203" pitchFamily="34" charset="0"/>
            </a:endParaRPr>
          </a:p>
        </p:txBody>
      </p:sp>
      <p:graphicFrame>
        <p:nvGraphicFramePr>
          <p:cNvPr id="2" name="Table 1">
            <a:extLst>
              <a:ext uri="{FF2B5EF4-FFF2-40B4-BE49-F238E27FC236}">
                <a16:creationId xmlns:a16="http://schemas.microsoft.com/office/drawing/2014/main" id="{7E6EC380-A2F4-B2D8-5320-ACE17C2D1D7B}"/>
              </a:ext>
            </a:extLst>
          </p:cNvPr>
          <p:cNvGraphicFramePr>
            <a:graphicFrameLocks noGrp="1"/>
          </p:cNvGraphicFramePr>
          <p:nvPr>
            <p:extLst>
              <p:ext uri="{D42A27DB-BD31-4B8C-83A1-F6EECF244321}">
                <p14:modId xmlns:p14="http://schemas.microsoft.com/office/powerpoint/2010/main" val="1436441049"/>
              </p:ext>
            </p:extLst>
          </p:nvPr>
        </p:nvGraphicFramePr>
        <p:xfrm>
          <a:off x="521207" y="1472297"/>
          <a:ext cx="11267669" cy="4937647"/>
        </p:xfrm>
        <a:graphic>
          <a:graphicData uri="http://schemas.openxmlformats.org/drawingml/2006/table">
            <a:tbl>
              <a:tblPr firstRow="1" bandRow="1">
                <a:tableStyleId>{5940675A-B579-460E-94D1-54222C63F5DA}</a:tableStyleId>
              </a:tblPr>
              <a:tblGrid>
                <a:gridCol w="1034876">
                  <a:extLst>
                    <a:ext uri="{9D8B030D-6E8A-4147-A177-3AD203B41FA5}">
                      <a16:colId xmlns:a16="http://schemas.microsoft.com/office/drawing/2014/main" val="988009357"/>
                    </a:ext>
                  </a:extLst>
                </a:gridCol>
                <a:gridCol w="1090863">
                  <a:extLst>
                    <a:ext uri="{9D8B030D-6E8A-4147-A177-3AD203B41FA5}">
                      <a16:colId xmlns:a16="http://schemas.microsoft.com/office/drawing/2014/main" val="1897394680"/>
                    </a:ext>
                  </a:extLst>
                </a:gridCol>
                <a:gridCol w="2165685">
                  <a:extLst>
                    <a:ext uri="{9D8B030D-6E8A-4147-A177-3AD203B41FA5}">
                      <a16:colId xmlns:a16="http://schemas.microsoft.com/office/drawing/2014/main" val="304129048"/>
                    </a:ext>
                  </a:extLst>
                </a:gridCol>
                <a:gridCol w="3449052">
                  <a:extLst>
                    <a:ext uri="{9D8B030D-6E8A-4147-A177-3AD203B41FA5}">
                      <a16:colId xmlns:a16="http://schemas.microsoft.com/office/drawing/2014/main" val="3396604007"/>
                    </a:ext>
                  </a:extLst>
                </a:gridCol>
                <a:gridCol w="3527193">
                  <a:extLst>
                    <a:ext uri="{9D8B030D-6E8A-4147-A177-3AD203B41FA5}">
                      <a16:colId xmlns:a16="http://schemas.microsoft.com/office/drawing/2014/main" val="2503530394"/>
                    </a:ext>
                  </a:extLst>
                </a:gridCol>
              </a:tblGrid>
              <a:tr h="438311">
                <a:tc>
                  <a:txBody>
                    <a:bodyPr/>
                    <a:lstStyle/>
                    <a:p>
                      <a:r>
                        <a:rPr lang="en-IN" b="1" dirty="0"/>
                        <a:t>SNO</a:t>
                      </a:r>
                    </a:p>
                  </a:txBody>
                  <a:tcPr/>
                </a:tc>
                <a:tc>
                  <a:txBody>
                    <a:bodyPr/>
                    <a:lstStyle/>
                    <a:p>
                      <a:r>
                        <a:rPr lang="en-IN" b="1" dirty="0"/>
                        <a:t>YEAR</a:t>
                      </a:r>
                    </a:p>
                  </a:txBody>
                  <a:tcPr/>
                </a:tc>
                <a:tc>
                  <a:txBody>
                    <a:bodyPr/>
                    <a:lstStyle/>
                    <a:p>
                      <a:r>
                        <a:rPr lang="en-IN" b="1" dirty="0"/>
                        <a:t>AUTHOR</a:t>
                      </a:r>
                    </a:p>
                  </a:txBody>
                  <a:tcPr/>
                </a:tc>
                <a:tc>
                  <a:txBody>
                    <a:bodyPr/>
                    <a:lstStyle/>
                    <a:p>
                      <a:r>
                        <a:rPr lang="en-IN" b="1" dirty="0"/>
                        <a:t>TITLE</a:t>
                      </a:r>
                    </a:p>
                  </a:txBody>
                  <a:tcPr/>
                </a:tc>
                <a:tc>
                  <a:txBody>
                    <a:bodyPr/>
                    <a:lstStyle/>
                    <a:p>
                      <a:r>
                        <a:rPr lang="en-IN" b="1" dirty="0"/>
                        <a:t>OUTCOME</a:t>
                      </a:r>
                    </a:p>
                  </a:txBody>
                  <a:tcPr/>
                </a:tc>
                <a:extLst>
                  <a:ext uri="{0D108BD9-81ED-4DB2-BD59-A6C34878D82A}">
                    <a16:rowId xmlns:a16="http://schemas.microsoft.com/office/drawing/2014/main" val="2704048386"/>
                  </a:ext>
                </a:extLst>
              </a:tr>
              <a:tr h="1177016">
                <a:tc>
                  <a:txBody>
                    <a:bodyPr/>
                    <a:lstStyle/>
                    <a:p>
                      <a:r>
                        <a:rPr lang="en-IN" dirty="0"/>
                        <a:t>1.</a:t>
                      </a:r>
                    </a:p>
                  </a:txBody>
                  <a:tcPr/>
                </a:tc>
                <a:tc>
                  <a:txBody>
                    <a:bodyPr/>
                    <a:lstStyle/>
                    <a:p>
                      <a:r>
                        <a:rPr lang="en-IN" dirty="0"/>
                        <a:t>2002</a:t>
                      </a:r>
                    </a:p>
                  </a:txBody>
                  <a:tcPr/>
                </a:tc>
                <a:tc>
                  <a:txBody>
                    <a:bodyPr/>
                    <a:lstStyle/>
                    <a:p>
                      <a:r>
                        <a:rPr lang="en-IN" dirty="0"/>
                        <a:t>Michelle Girvan </a:t>
                      </a:r>
                    </a:p>
                  </a:txBody>
                  <a:tcPr/>
                </a:tc>
                <a:tc>
                  <a:txBody>
                    <a:bodyPr/>
                    <a:lstStyle/>
                    <a:p>
                      <a:r>
                        <a:rPr lang="en-US" sz="1600" dirty="0"/>
                        <a:t>Community structure in social and biological networks</a:t>
                      </a:r>
                      <a:endParaRPr lang="en-IN" sz="1600" dirty="0"/>
                    </a:p>
                  </a:txBody>
                  <a:tcPr/>
                </a:tc>
                <a:tc>
                  <a:txBody>
                    <a:bodyPr/>
                    <a:lstStyle/>
                    <a:p>
                      <a:r>
                        <a:rPr lang="en-US" sz="1400" dirty="0"/>
                        <a:t>Proposed the Girvan–Newman algorithm using edge betweenness to detect communities in complex networks</a:t>
                      </a:r>
                      <a:r>
                        <a:rPr lang="en-US" dirty="0"/>
                        <a:t>.</a:t>
                      </a:r>
                      <a:endParaRPr lang="en-IN" dirty="0"/>
                    </a:p>
                  </a:txBody>
                  <a:tcPr/>
                </a:tc>
                <a:extLst>
                  <a:ext uri="{0D108BD9-81ED-4DB2-BD59-A6C34878D82A}">
                    <a16:rowId xmlns:a16="http://schemas.microsoft.com/office/drawing/2014/main" val="765923637"/>
                  </a:ext>
                </a:extLst>
              </a:tr>
              <a:tr h="1035242">
                <a:tc>
                  <a:txBody>
                    <a:bodyPr/>
                    <a:lstStyle/>
                    <a:p>
                      <a:r>
                        <a:rPr lang="en-IN" dirty="0"/>
                        <a:t>2.</a:t>
                      </a:r>
                    </a:p>
                  </a:txBody>
                  <a:tcPr/>
                </a:tc>
                <a:tc>
                  <a:txBody>
                    <a:bodyPr/>
                    <a:lstStyle/>
                    <a:p>
                      <a:r>
                        <a:rPr lang="en-IN" dirty="0"/>
                        <a:t>2002</a:t>
                      </a:r>
                    </a:p>
                  </a:txBody>
                  <a:tcPr/>
                </a:tc>
                <a:tc>
                  <a:txBody>
                    <a:bodyPr/>
                    <a:lstStyle/>
                    <a:p>
                      <a:r>
                        <a:rPr lang="en-IN" dirty="0"/>
                        <a:t>M. E. J. Newman</a:t>
                      </a:r>
                    </a:p>
                  </a:txBody>
                  <a:tcPr/>
                </a:tc>
                <a:tc>
                  <a:txBody>
                    <a:bodyPr/>
                    <a:lstStyle/>
                    <a:p>
                      <a:r>
                        <a:rPr lang="en-US" dirty="0"/>
                        <a:t> Community structure in social and biological networks</a:t>
                      </a:r>
                      <a:endParaRPr lang="en-IN" dirty="0"/>
                    </a:p>
                  </a:txBody>
                  <a:tcPr/>
                </a:tc>
                <a:tc>
                  <a:txBody>
                    <a:bodyPr/>
                    <a:lstStyle/>
                    <a:p>
                      <a:r>
                        <a:rPr lang="en-US" sz="1600" dirty="0"/>
                        <a:t>Introduced modularity concept foundation and improved community detection using graph theory.</a:t>
                      </a:r>
                      <a:endParaRPr lang="en-IN" sz="1600" dirty="0"/>
                    </a:p>
                  </a:txBody>
                  <a:tcPr/>
                </a:tc>
                <a:extLst>
                  <a:ext uri="{0D108BD9-81ED-4DB2-BD59-A6C34878D82A}">
                    <a16:rowId xmlns:a16="http://schemas.microsoft.com/office/drawing/2014/main" val="3472992678"/>
                  </a:ext>
                </a:extLst>
              </a:tr>
              <a:tr h="1035242">
                <a:tc>
                  <a:txBody>
                    <a:bodyPr/>
                    <a:lstStyle/>
                    <a:p>
                      <a:r>
                        <a:rPr lang="en-IN" dirty="0"/>
                        <a:t>3.</a:t>
                      </a:r>
                    </a:p>
                  </a:txBody>
                  <a:tcPr/>
                </a:tc>
                <a:tc>
                  <a:txBody>
                    <a:bodyPr/>
                    <a:lstStyle/>
                    <a:p>
                      <a:r>
                        <a:rPr lang="en-IN" dirty="0"/>
                        <a:t>2006</a:t>
                      </a:r>
                    </a:p>
                  </a:txBody>
                  <a:tcPr/>
                </a:tc>
                <a:tc>
                  <a:txBody>
                    <a:bodyPr/>
                    <a:lstStyle/>
                    <a:p>
                      <a:r>
                        <a:rPr lang="en-IN" dirty="0"/>
                        <a:t>M. E. J. Newman </a:t>
                      </a:r>
                    </a:p>
                  </a:txBody>
                  <a:tcPr/>
                </a:tc>
                <a:tc>
                  <a:txBody>
                    <a:bodyPr/>
                    <a:lstStyle/>
                    <a:p>
                      <a:r>
                        <a:rPr lang="en-US" dirty="0"/>
                        <a:t> Modularity and community structure in networks</a:t>
                      </a:r>
                      <a:endParaRPr lang="en-IN" dirty="0"/>
                    </a:p>
                  </a:txBody>
                  <a:tcPr/>
                </a:tc>
                <a:tc>
                  <a:txBody>
                    <a:bodyPr/>
                    <a:lstStyle/>
                    <a:p>
                      <a:r>
                        <a:rPr lang="en-US" sz="1600" dirty="0"/>
                        <a:t>Developed the modularity optimization method, which became a standard metric for evaluating community structure.</a:t>
                      </a:r>
                      <a:endParaRPr lang="en-IN" sz="1600" dirty="0"/>
                    </a:p>
                  </a:txBody>
                  <a:tcPr/>
                </a:tc>
                <a:extLst>
                  <a:ext uri="{0D108BD9-81ED-4DB2-BD59-A6C34878D82A}">
                    <a16:rowId xmlns:a16="http://schemas.microsoft.com/office/drawing/2014/main" val="2912269887"/>
                  </a:ext>
                </a:extLst>
              </a:tr>
              <a:tr h="1035242">
                <a:tc>
                  <a:txBody>
                    <a:bodyPr/>
                    <a:lstStyle/>
                    <a:p>
                      <a:r>
                        <a:rPr lang="en-IN" dirty="0"/>
                        <a:t>4.</a:t>
                      </a:r>
                    </a:p>
                  </a:txBody>
                  <a:tcPr/>
                </a:tc>
                <a:tc>
                  <a:txBody>
                    <a:bodyPr/>
                    <a:lstStyle/>
                    <a:p>
                      <a:r>
                        <a:rPr lang="en-IN" dirty="0"/>
                        <a:t>2008</a:t>
                      </a:r>
                    </a:p>
                  </a:txBody>
                  <a:tcPr/>
                </a:tc>
                <a:tc>
                  <a:txBody>
                    <a:bodyPr/>
                    <a:lstStyle/>
                    <a:p>
                      <a:r>
                        <a:rPr lang="en-IN" dirty="0"/>
                        <a:t>Vincent D. Blondel </a:t>
                      </a:r>
                    </a:p>
                  </a:txBody>
                  <a:tcPr/>
                </a:tc>
                <a:tc>
                  <a:txBody>
                    <a:bodyPr/>
                    <a:lstStyle/>
                    <a:p>
                      <a:r>
                        <a:rPr lang="en-US" dirty="0"/>
                        <a:t>Fast unfolding of communities in large networks</a:t>
                      </a:r>
                      <a:endParaRPr lang="en-IN" dirty="0"/>
                    </a:p>
                  </a:txBody>
                  <a:tcPr/>
                </a:tc>
                <a:tc>
                  <a:txBody>
                    <a:bodyPr/>
                    <a:lstStyle/>
                    <a:p>
                      <a:r>
                        <a:rPr lang="en-US" dirty="0"/>
                        <a:t>Proposed the Louvain Method, a fast and efficient algorithm for large-scale network community detection.</a:t>
                      </a:r>
                      <a:endParaRPr lang="en-IN" dirty="0"/>
                    </a:p>
                  </a:txBody>
                  <a:tcPr/>
                </a:tc>
                <a:extLst>
                  <a:ext uri="{0D108BD9-81ED-4DB2-BD59-A6C34878D82A}">
                    <a16:rowId xmlns:a16="http://schemas.microsoft.com/office/drawing/2014/main" val="4279234253"/>
                  </a:ext>
                </a:extLst>
              </a:tr>
            </a:tbl>
          </a:graphicData>
        </a:graphic>
      </p:graphicFrame>
    </p:spTree>
    <p:extLst>
      <p:ext uri="{BB962C8B-B14F-4D97-AF65-F5344CB8AC3E}">
        <p14:creationId xmlns:p14="http://schemas.microsoft.com/office/powerpoint/2010/main" val="259683360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Content Placeholder 3">
            <a:extLst>
              <a:ext uri="{FF2B5EF4-FFF2-40B4-BE49-F238E27FC236}">
                <a16:creationId xmlns:a16="http://schemas.microsoft.com/office/drawing/2014/main" id="{68D0282C-B31A-3253-F849-71B93B1C9846}"/>
              </a:ext>
            </a:extLst>
          </p:cNvPr>
          <p:cNvGraphicFramePr>
            <a:graphicFrameLocks noGrp="1"/>
          </p:cNvGraphicFramePr>
          <p:nvPr>
            <p:ph sz="quarter" idx="10"/>
            <p:extLst>
              <p:ext uri="{D42A27DB-BD31-4B8C-83A1-F6EECF244321}">
                <p14:modId xmlns:p14="http://schemas.microsoft.com/office/powerpoint/2010/main" val="2391112160"/>
              </p:ext>
            </p:extLst>
          </p:nvPr>
        </p:nvGraphicFramePr>
        <p:xfrm>
          <a:off x="550606" y="1435100"/>
          <a:ext cx="11336594" cy="4974846"/>
        </p:xfrm>
        <a:graphic>
          <a:graphicData uri="http://schemas.openxmlformats.org/drawingml/2006/table">
            <a:tbl>
              <a:tblPr firstRow="1" bandRow="1">
                <a:tableStyleId>{5940675A-B579-460E-94D1-54222C63F5DA}</a:tableStyleId>
              </a:tblPr>
              <a:tblGrid>
                <a:gridCol w="1208571">
                  <a:extLst>
                    <a:ext uri="{9D8B030D-6E8A-4147-A177-3AD203B41FA5}">
                      <a16:colId xmlns:a16="http://schemas.microsoft.com/office/drawing/2014/main" val="3421903753"/>
                    </a:ext>
                  </a:extLst>
                </a:gridCol>
                <a:gridCol w="1328429">
                  <a:extLst>
                    <a:ext uri="{9D8B030D-6E8A-4147-A177-3AD203B41FA5}">
                      <a16:colId xmlns:a16="http://schemas.microsoft.com/office/drawing/2014/main" val="2614884662"/>
                    </a:ext>
                  </a:extLst>
                </a:gridCol>
                <a:gridCol w="2346698">
                  <a:extLst>
                    <a:ext uri="{9D8B030D-6E8A-4147-A177-3AD203B41FA5}">
                      <a16:colId xmlns:a16="http://schemas.microsoft.com/office/drawing/2014/main" val="3692529552"/>
                    </a:ext>
                  </a:extLst>
                </a:gridCol>
                <a:gridCol w="2847159">
                  <a:extLst>
                    <a:ext uri="{9D8B030D-6E8A-4147-A177-3AD203B41FA5}">
                      <a16:colId xmlns:a16="http://schemas.microsoft.com/office/drawing/2014/main" val="3030398288"/>
                    </a:ext>
                  </a:extLst>
                </a:gridCol>
                <a:gridCol w="3605737">
                  <a:extLst>
                    <a:ext uri="{9D8B030D-6E8A-4147-A177-3AD203B41FA5}">
                      <a16:colId xmlns:a16="http://schemas.microsoft.com/office/drawing/2014/main" val="3204072489"/>
                    </a:ext>
                  </a:extLst>
                </a:gridCol>
              </a:tblGrid>
              <a:tr h="473049">
                <a:tc>
                  <a:txBody>
                    <a:bodyPr/>
                    <a:lstStyle/>
                    <a:p>
                      <a:r>
                        <a:rPr lang="en-IN" b="1" dirty="0"/>
                        <a:t>SNO</a:t>
                      </a:r>
                    </a:p>
                  </a:txBody>
                  <a:tcPr/>
                </a:tc>
                <a:tc>
                  <a:txBody>
                    <a:bodyPr/>
                    <a:lstStyle/>
                    <a:p>
                      <a:r>
                        <a:rPr lang="en-IN" b="1" dirty="0"/>
                        <a:t>YEAR</a:t>
                      </a:r>
                    </a:p>
                  </a:txBody>
                  <a:tcPr/>
                </a:tc>
                <a:tc>
                  <a:txBody>
                    <a:bodyPr/>
                    <a:lstStyle/>
                    <a:p>
                      <a:r>
                        <a:rPr lang="en-IN" b="1" dirty="0"/>
                        <a:t>AUTHORS</a:t>
                      </a:r>
                    </a:p>
                  </a:txBody>
                  <a:tcPr/>
                </a:tc>
                <a:tc>
                  <a:txBody>
                    <a:bodyPr/>
                    <a:lstStyle/>
                    <a:p>
                      <a:r>
                        <a:rPr lang="en-IN" b="1" dirty="0"/>
                        <a:t>TITLE</a:t>
                      </a:r>
                    </a:p>
                  </a:txBody>
                  <a:tcPr/>
                </a:tc>
                <a:tc>
                  <a:txBody>
                    <a:bodyPr/>
                    <a:lstStyle/>
                    <a:p>
                      <a:r>
                        <a:rPr lang="en-IN" b="1" dirty="0"/>
                        <a:t>OUTCOMES</a:t>
                      </a:r>
                    </a:p>
                  </a:txBody>
                  <a:tcPr/>
                </a:tc>
                <a:extLst>
                  <a:ext uri="{0D108BD9-81ED-4DB2-BD59-A6C34878D82A}">
                    <a16:rowId xmlns:a16="http://schemas.microsoft.com/office/drawing/2014/main" val="3838430124"/>
                  </a:ext>
                </a:extLst>
              </a:tr>
              <a:tr h="1067739">
                <a:tc>
                  <a:txBody>
                    <a:bodyPr/>
                    <a:lstStyle/>
                    <a:p>
                      <a:r>
                        <a:rPr lang="en-IN" dirty="0"/>
                        <a:t>5.</a:t>
                      </a:r>
                    </a:p>
                  </a:txBody>
                  <a:tcPr/>
                </a:tc>
                <a:tc>
                  <a:txBody>
                    <a:bodyPr/>
                    <a:lstStyle/>
                    <a:p>
                      <a:r>
                        <a:rPr lang="en-IN" dirty="0"/>
                        <a:t>2008</a:t>
                      </a:r>
                    </a:p>
                  </a:txBody>
                  <a:tcPr/>
                </a:tc>
                <a:tc>
                  <a:txBody>
                    <a:bodyPr/>
                    <a:lstStyle/>
                    <a:p>
                      <a:r>
                        <a:rPr lang="en-IN" dirty="0"/>
                        <a:t> Jean-Loup Guillaume </a:t>
                      </a:r>
                    </a:p>
                  </a:txBody>
                  <a:tcPr/>
                </a:tc>
                <a:tc>
                  <a:txBody>
                    <a:bodyPr/>
                    <a:lstStyle/>
                    <a:p>
                      <a:r>
                        <a:rPr lang="en-US" dirty="0"/>
                        <a:t> Fast unfolding of communities in large networks</a:t>
                      </a:r>
                      <a:endParaRPr lang="en-IN" dirty="0"/>
                    </a:p>
                  </a:txBody>
                  <a:tcPr/>
                </a:tc>
                <a:tc>
                  <a:txBody>
                    <a:bodyPr/>
                    <a:lstStyle/>
                    <a:p>
                      <a:r>
                        <a:rPr lang="en-US" dirty="0"/>
                        <a:t>Contributed to scalable modularity-based clustering for large social networks.</a:t>
                      </a:r>
                      <a:endParaRPr lang="en-IN" dirty="0"/>
                    </a:p>
                  </a:txBody>
                  <a:tcPr/>
                </a:tc>
                <a:extLst>
                  <a:ext uri="{0D108BD9-81ED-4DB2-BD59-A6C34878D82A}">
                    <a16:rowId xmlns:a16="http://schemas.microsoft.com/office/drawing/2014/main" val="1025311398"/>
                  </a:ext>
                </a:extLst>
              </a:tr>
              <a:tr h="1067739">
                <a:tc>
                  <a:txBody>
                    <a:bodyPr/>
                    <a:lstStyle/>
                    <a:p>
                      <a:r>
                        <a:rPr lang="en-IN" dirty="0"/>
                        <a:t>6.</a:t>
                      </a:r>
                    </a:p>
                  </a:txBody>
                  <a:tcPr/>
                </a:tc>
                <a:tc>
                  <a:txBody>
                    <a:bodyPr/>
                    <a:lstStyle/>
                    <a:p>
                      <a:r>
                        <a:rPr lang="en-IN" dirty="0"/>
                        <a:t>2008</a:t>
                      </a:r>
                    </a:p>
                  </a:txBody>
                  <a:tcPr/>
                </a:tc>
                <a:tc>
                  <a:txBody>
                    <a:bodyPr/>
                    <a:lstStyle/>
                    <a:p>
                      <a:r>
                        <a:rPr lang="en-IN" dirty="0"/>
                        <a:t>Renaud Lambiotte</a:t>
                      </a:r>
                    </a:p>
                  </a:txBody>
                  <a:tcPr/>
                </a:tc>
                <a:tc>
                  <a:txBody>
                    <a:bodyPr/>
                    <a:lstStyle/>
                    <a:p>
                      <a:r>
                        <a:rPr lang="en-US" dirty="0"/>
                        <a:t> Fast unfolding of communities in large networks</a:t>
                      </a:r>
                      <a:endParaRPr lang="en-IN" dirty="0"/>
                    </a:p>
                  </a:txBody>
                  <a:tcPr/>
                </a:tc>
                <a:tc>
                  <a:txBody>
                    <a:bodyPr/>
                    <a:lstStyle/>
                    <a:p>
                      <a:r>
                        <a:rPr lang="en-US" dirty="0"/>
                        <a:t>Enhanced hierarchical community detection for complex graphs.</a:t>
                      </a:r>
                      <a:endParaRPr lang="en-IN" dirty="0"/>
                    </a:p>
                  </a:txBody>
                  <a:tcPr/>
                </a:tc>
                <a:extLst>
                  <a:ext uri="{0D108BD9-81ED-4DB2-BD59-A6C34878D82A}">
                    <a16:rowId xmlns:a16="http://schemas.microsoft.com/office/drawing/2014/main" val="2085439273"/>
                  </a:ext>
                </a:extLst>
              </a:tr>
              <a:tr h="1067739">
                <a:tc>
                  <a:txBody>
                    <a:bodyPr/>
                    <a:lstStyle/>
                    <a:p>
                      <a:r>
                        <a:rPr lang="en-IN" dirty="0"/>
                        <a:t>7.</a:t>
                      </a:r>
                    </a:p>
                  </a:txBody>
                  <a:tcPr/>
                </a:tc>
                <a:tc>
                  <a:txBody>
                    <a:bodyPr/>
                    <a:lstStyle/>
                    <a:p>
                      <a:r>
                        <a:rPr lang="en-IN" dirty="0"/>
                        <a:t>2010</a:t>
                      </a:r>
                    </a:p>
                  </a:txBody>
                  <a:tcPr/>
                </a:tc>
                <a:tc>
                  <a:txBody>
                    <a:bodyPr/>
                    <a:lstStyle/>
                    <a:p>
                      <a:r>
                        <a:rPr lang="en-IN" dirty="0"/>
                        <a:t>Jure Leskovec </a:t>
                      </a:r>
                    </a:p>
                  </a:txBody>
                  <a:tcPr/>
                </a:tc>
                <a:tc>
                  <a:txBody>
                    <a:bodyPr/>
                    <a:lstStyle/>
                    <a:p>
                      <a:r>
                        <a:rPr lang="en-US" dirty="0"/>
                        <a:t>Empirical comparison of algorithms for network community detection</a:t>
                      </a:r>
                      <a:endParaRPr lang="en-IN" dirty="0"/>
                    </a:p>
                  </a:txBody>
                  <a:tcPr/>
                </a:tc>
                <a:tc>
                  <a:txBody>
                    <a:bodyPr/>
                    <a:lstStyle/>
                    <a:p>
                      <a:r>
                        <a:rPr lang="en-US" dirty="0"/>
                        <a:t>Compared multiple algorithms and analyzed their performance on real-world datasets.</a:t>
                      </a:r>
                      <a:endParaRPr lang="en-IN" dirty="0"/>
                    </a:p>
                  </a:txBody>
                  <a:tcPr/>
                </a:tc>
                <a:extLst>
                  <a:ext uri="{0D108BD9-81ED-4DB2-BD59-A6C34878D82A}">
                    <a16:rowId xmlns:a16="http://schemas.microsoft.com/office/drawing/2014/main" val="135202041"/>
                  </a:ext>
                </a:extLst>
              </a:tr>
              <a:tr h="1298580">
                <a:tc>
                  <a:txBody>
                    <a:bodyPr/>
                    <a:lstStyle/>
                    <a:p>
                      <a:r>
                        <a:rPr lang="en-IN" dirty="0"/>
                        <a:t>8.</a:t>
                      </a:r>
                    </a:p>
                  </a:txBody>
                  <a:tcPr/>
                </a:tc>
                <a:tc>
                  <a:txBody>
                    <a:bodyPr/>
                    <a:lstStyle/>
                    <a:p>
                      <a:r>
                        <a:rPr lang="en-IN" dirty="0"/>
                        <a:t>2024</a:t>
                      </a:r>
                    </a:p>
                  </a:txBody>
                  <a:tcPr/>
                </a:tc>
                <a:tc>
                  <a:txBody>
                    <a:bodyPr/>
                    <a:lstStyle/>
                    <a:p>
                      <a:r>
                        <a:rPr lang="en-IN" dirty="0"/>
                        <a:t>Mohammad  </a:t>
                      </a:r>
                      <a:r>
                        <a:rPr lang="en-IN" dirty="0" err="1"/>
                        <a:t>Nooribakhsh</a:t>
                      </a:r>
                      <a:endParaRPr lang="en-IN" dirty="0"/>
                    </a:p>
                  </a:txBody>
                  <a:tcPr/>
                </a:tc>
                <a:tc>
                  <a:txBody>
                    <a:bodyPr/>
                    <a:lstStyle/>
                    <a:p>
                      <a:r>
                        <a:rPr lang="en-US" dirty="0"/>
                        <a:t> Community detection in social networks using </a:t>
                      </a:r>
                      <a:endParaRPr lang="en-IN" dirty="0"/>
                    </a:p>
                  </a:txBody>
                  <a:tcPr/>
                </a:tc>
                <a:tc>
                  <a:txBody>
                    <a:bodyPr/>
                    <a:lstStyle/>
                    <a:p>
                      <a:r>
                        <a:rPr lang="en-US" dirty="0"/>
                        <a:t>Reviewed ML-based community detection techniques and highlighted deep learning advancements in social networks.</a:t>
                      </a:r>
                      <a:endParaRPr lang="en-IN" dirty="0"/>
                    </a:p>
                  </a:txBody>
                  <a:tcPr/>
                </a:tc>
                <a:extLst>
                  <a:ext uri="{0D108BD9-81ED-4DB2-BD59-A6C34878D82A}">
                    <a16:rowId xmlns:a16="http://schemas.microsoft.com/office/drawing/2014/main" val="1479430751"/>
                  </a:ext>
                </a:extLst>
              </a:tr>
            </a:tbl>
          </a:graphicData>
        </a:graphic>
      </p:graphicFrame>
    </p:spTree>
    <p:extLst>
      <p:ext uri="{BB962C8B-B14F-4D97-AF65-F5344CB8AC3E}">
        <p14:creationId xmlns:p14="http://schemas.microsoft.com/office/powerpoint/2010/main" val="87318973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67645F-9E4C-92C7-E689-5E3C757A628A}"/>
              </a:ext>
            </a:extLst>
          </p:cNvPr>
          <p:cNvSpPr>
            <a:spLocks noGrp="1"/>
          </p:cNvSpPr>
          <p:nvPr>
            <p:ph type="title"/>
          </p:nvPr>
        </p:nvSpPr>
        <p:spPr/>
        <p:txBody>
          <a:bodyPr/>
          <a:lstStyle/>
          <a:p>
            <a:r>
              <a:rPr lang="en-US" b="1" dirty="0"/>
              <a:t>Proposed System</a:t>
            </a:r>
            <a:endParaRPr lang="en-IN" b="1" dirty="0"/>
          </a:p>
        </p:txBody>
      </p:sp>
      <p:sp>
        <p:nvSpPr>
          <p:cNvPr id="16" name="TextBox 15">
            <a:extLst>
              <a:ext uri="{FF2B5EF4-FFF2-40B4-BE49-F238E27FC236}">
                <a16:creationId xmlns:a16="http://schemas.microsoft.com/office/drawing/2014/main" id="{BE61877F-FB70-32CA-5199-ED1FEA04885C}"/>
              </a:ext>
            </a:extLst>
          </p:cNvPr>
          <p:cNvSpPr txBox="1"/>
          <p:nvPr/>
        </p:nvSpPr>
        <p:spPr>
          <a:xfrm>
            <a:off x="521207" y="1327416"/>
            <a:ext cx="8354027" cy="1631216"/>
          </a:xfrm>
          <a:prstGeom prst="rect">
            <a:avLst/>
          </a:prstGeom>
          <a:noFill/>
        </p:spPr>
        <p:txBody>
          <a:bodyPr wrap="square">
            <a:spAutoFit/>
          </a:bodyPr>
          <a:lstStyle/>
          <a:p>
            <a:pPr>
              <a:buNone/>
            </a:pPr>
            <a:r>
              <a:rPr lang="en-IN" sz="2000" b="1" dirty="0"/>
              <a:t>Proposed System</a:t>
            </a:r>
          </a:p>
          <a:p>
            <a:pPr>
              <a:buFont typeface="Arial" panose="020B0604020202020204" pitchFamily="34" charset="0"/>
              <a:buChar char="•"/>
            </a:pPr>
            <a:r>
              <a:rPr lang="en-IN" sz="2000" dirty="0"/>
              <a:t>Detects communities in social networks using </a:t>
            </a:r>
            <a:r>
              <a:rPr lang="en-IN" sz="2000" b="1" dirty="0"/>
              <a:t>Social Network Analysis (SNA)</a:t>
            </a:r>
            <a:r>
              <a:rPr lang="en-IN" sz="2000" dirty="0"/>
              <a:t> </a:t>
            </a:r>
          </a:p>
          <a:p>
            <a:pPr>
              <a:buFont typeface="Arial" panose="020B0604020202020204" pitchFamily="34" charset="0"/>
              <a:buChar char="•"/>
            </a:pPr>
            <a:r>
              <a:rPr lang="en-IN" sz="2000" dirty="0"/>
              <a:t>Process includes: </a:t>
            </a:r>
            <a:r>
              <a:rPr lang="en-IN" sz="2000" b="1" dirty="0"/>
              <a:t>Data Collection → Preprocessing → Algorithms → Evaluation</a:t>
            </a:r>
            <a:r>
              <a:rPr lang="en-IN" sz="2000" dirty="0"/>
              <a:t> </a:t>
            </a:r>
          </a:p>
        </p:txBody>
      </p:sp>
      <p:sp>
        <p:nvSpPr>
          <p:cNvPr id="18" name="TextBox 17">
            <a:extLst>
              <a:ext uri="{FF2B5EF4-FFF2-40B4-BE49-F238E27FC236}">
                <a16:creationId xmlns:a16="http://schemas.microsoft.com/office/drawing/2014/main" id="{151566CA-AAAF-8572-5C97-07527309756D}"/>
              </a:ext>
            </a:extLst>
          </p:cNvPr>
          <p:cNvSpPr txBox="1"/>
          <p:nvPr/>
        </p:nvSpPr>
        <p:spPr>
          <a:xfrm>
            <a:off x="521207" y="2958632"/>
            <a:ext cx="8715390" cy="1323439"/>
          </a:xfrm>
          <a:prstGeom prst="rect">
            <a:avLst/>
          </a:prstGeom>
          <a:noFill/>
        </p:spPr>
        <p:txBody>
          <a:bodyPr wrap="square">
            <a:spAutoFit/>
          </a:bodyPr>
          <a:lstStyle/>
          <a:p>
            <a:pPr>
              <a:buNone/>
            </a:pPr>
            <a:r>
              <a:rPr lang="en-US" sz="2000" b="1" dirty="0"/>
              <a:t>1. Data Collection</a:t>
            </a:r>
          </a:p>
          <a:p>
            <a:pPr>
              <a:buFont typeface="Arial" panose="020B0604020202020204" pitchFamily="34" charset="0"/>
              <a:buChar char="•"/>
            </a:pPr>
            <a:r>
              <a:rPr lang="en-US" sz="2000" dirty="0"/>
              <a:t>Data from </a:t>
            </a:r>
            <a:r>
              <a:rPr lang="en-US" sz="2000" b="1" dirty="0"/>
              <a:t>SNAP repository</a:t>
            </a:r>
            <a:r>
              <a:rPr lang="en-US" sz="2000" dirty="0"/>
              <a:t> (Facebook, Twitter, etc.) </a:t>
            </a:r>
          </a:p>
          <a:p>
            <a:pPr>
              <a:buFont typeface="Arial" panose="020B0604020202020204" pitchFamily="34" charset="0"/>
              <a:buChar char="•"/>
            </a:pPr>
            <a:r>
              <a:rPr lang="en-US" sz="2000" b="1" dirty="0"/>
              <a:t>Nodes = Users</a:t>
            </a:r>
            <a:r>
              <a:rPr lang="en-US" sz="2000" dirty="0"/>
              <a:t>, </a:t>
            </a:r>
            <a:r>
              <a:rPr lang="en-US" sz="2000" b="1" dirty="0"/>
              <a:t>Edges = Connections</a:t>
            </a:r>
            <a:r>
              <a:rPr lang="en-US" sz="2000" dirty="0"/>
              <a:t> </a:t>
            </a:r>
          </a:p>
          <a:p>
            <a:pPr>
              <a:buFont typeface="Arial" panose="020B0604020202020204" pitchFamily="34" charset="0"/>
              <a:buChar char="•"/>
            </a:pPr>
            <a:r>
              <a:rPr lang="en-US" sz="2000" dirty="0"/>
              <a:t>Imported into Python (edge-list format)</a:t>
            </a:r>
          </a:p>
        </p:txBody>
      </p:sp>
      <p:sp>
        <p:nvSpPr>
          <p:cNvPr id="20" name="TextBox 19">
            <a:extLst>
              <a:ext uri="{FF2B5EF4-FFF2-40B4-BE49-F238E27FC236}">
                <a16:creationId xmlns:a16="http://schemas.microsoft.com/office/drawing/2014/main" id="{B6F98F29-E08E-E47E-29C8-0DA598F700DB}"/>
              </a:ext>
            </a:extLst>
          </p:cNvPr>
          <p:cNvSpPr txBox="1"/>
          <p:nvPr/>
        </p:nvSpPr>
        <p:spPr>
          <a:xfrm>
            <a:off x="521207" y="4282071"/>
            <a:ext cx="6094070" cy="1938992"/>
          </a:xfrm>
          <a:prstGeom prst="rect">
            <a:avLst/>
          </a:prstGeom>
          <a:noFill/>
        </p:spPr>
        <p:txBody>
          <a:bodyPr wrap="square">
            <a:spAutoFit/>
          </a:bodyPr>
          <a:lstStyle/>
          <a:p>
            <a:pPr>
              <a:buNone/>
            </a:pPr>
            <a:r>
              <a:rPr lang="en-IN" sz="2000" b="1" dirty="0"/>
              <a:t>2. Data Preprocessing</a:t>
            </a:r>
          </a:p>
          <a:p>
            <a:pPr>
              <a:buFont typeface="Arial" panose="020B0604020202020204" pitchFamily="34" charset="0"/>
              <a:buChar char="•"/>
            </a:pPr>
            <a:r>
              <a:rPr lang="en-IN" sz="2000" dirty="0"/>
              <a:t>Convert data into graph (</a:t>
            </a:r>
            <a:r>
              <a:rPr lang="en-IN" sz="2000" dirty="0" err="1"/>
              <a:t>NetworkX</a:t>
            </a:r>
            <a:r>
              <a:rPr lang="en-IN" sz="2000" dirty="0"/>
              <a:t>) </a:t>
            </a:r>
          </a:p>
          <a:p>
            <a:pPr>
              <a:buFont typeface="Arial" panose="020B0604020202020204" pitchFamily="34" charset="0"/>
              <a:buChar char="•"/>
            </a:pPr>
            <a:r>
              <a:rPr lang="en-IN" sz="2000" dirty="0"/>
              <a:t>Remove duplicates &amp; self-loops </a:t>
            </a:r>
          </a:p>
          <a:p>
            <a:pPr>
              <a:buFont typeface="Arial" panose="020B0604020202020204" pitchFamily="34" charset="0"/>
              <a:buChar char="•"/>
            </a:pPr>
            <a:r>
              <a:rPr lang="en-IN" sz="2000" dirty="0"/>
              <a:t>Clean missing/irrelevant data </a:t>
            </a:r>
          </a:p>
          <a:p>
            <a:pPr>
              <a:buFont typeface="Arial" panose="020B0604020202020204" pitchFamily="34" charset="0"/>
              <a:buChar char="•"/>
            </a:pPr>
            <a:r>
              <a:rPr lang="en-IN" sz="2000" dirty="0"/>
              <a:t>Remove isolated nodes </a:t>
            </a:r>
          </a:p>
          <a:p>
            <a:pPr>
              <a:buFont typeface="Arial" panose="020B0604020202020204" pitchFamily="34" charset="0"/>
              <a:buChar char="•"/>
            </a:pPr>
            <a:r>
              <a:rPr lang="en-IN" sz="2000" dirty="0"/>
              <a:t>Represent as adjacency list/matrix </a:t>
            </a:r>
          </a:p>
        </p:txBody>
      </p:sp>
    </p:spTree>
    <p:extLst>
      <p:ext uri="{BB962C8B-B14F-4D97-AF65-F5344CB8AC3E}">
        <p14:creationId xmlns:p14="http://schemas.microsoft.com/office/powerpoint/2010/main" val="316393859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C18B482-1D8A-AC88-62FC-7FB6171EBEBA}"/>
              </a:ext>
            </a:extLst>
          </p:cNvPr>
          <p:cNvSpPr txBox="1"/>
          <p:nvPr/>
        </p:nvSpPr>
        <p:spPr>
          <a:xfrm>
            <a:off x="551905" y="1302829"/>
            <a:ext cx="9493431" cy="2554545"/>
          </a:xfrm>
          <a:prstGeom prst="rect">
            <a:avLst/>
          </a:prstGeom>
          <a:noFill/>
        </p:spPr>
        <p:txBody>
          <a:bodyPr wrap="square">
            <a:spAutoFit/>
          </a:bodyPr>
          <a:lstStyle/>
          <a:p>
            <a:pPr>
              <a:buNone/>
            </a:pPr>
            <a:r>
              <a:rPr lang="en-US" sz="2000" b="1" dirty="0"/>
              <a:t>3. Community Detection Methods</a:t>
            </a:r>
          </a:p>
          <a:p>
            <a:pPr>
              <a:buFont typeface="Arial" panose="020B0604020202020204" pitchFamily="34" charset="0"/>
              <a:buChar char="•"/>
            </a:pPr>
            <a:r>
              <a:rPr lang="en-US" sz="2000" b="1" dirty="0"/>
              <a:t>Clique Percolation (CPM):</a:t>
            </a:r>
            <a:br>
              <a:rPr lang="en-US" sz="2000" dirty="0"/>
            </a:br>
            <a:r>
              <a:rPr lang="en-US" sz="2000" dirty="0"/>
              <a:t>Detects </a:t>
            </a:r>
            <a:r>
              <a:rPr lang="en-US" sz="2000" b="1" dirty="0"/>
              <a:t>overlapping communities</a:t>
            </a:r>
            <a:r>
              <a:rPr lang="en-US" sz="2000" dirty="0"/>
              <a:t> using k-cliques (fully connected groups) </a:t>
            </a:r>
          </a:p>
          <a:p>
            <a:pPr>
              <a:buFont typeface="Arial" panose="020B0604020202020204" pitchFamily="34" charset="0"/>
              <a:buChar char="•"/>
            </a:pPr>
            <a:r>
              <a:rPr lang="en-US" sz="2000" b="1" dirty="0"/>
              <a:t>Random Walk Method:</a:t>
            </a:r>
            <a:br>
              <a:rPr lang="en-US" sz="2000" dirty="0"/>
            </a:br>
            <a:r>
              <a:rPr lang="en-US" sz="2000" dirty="0"/>
              <a:t>Based on idea that nodes in same community have </a:t>
            </a:r>
            <a:r>
              <a:rPr lang="en-US" sz="2000" b="1" dirty="0"/>
              <a:t>higher transition probability</a:t>
            </a:r>
            <a:r>
              <a:rPr lang="en-US" sz="2000" dirty="0"/>
              <a:t> </a:t>
            </a:r>
          </a:p>
          <a:p>
            <a:pPr>
              <a:buFont typeface="Arial" panose="020B0604020202020204" pitchFamily="34" charset="0"/>
              <a:buChar char="•"/>
            </a:pPr>
            <a:r>
              <a:rPr lang="en-US" sz="2000" b="1" dirty="0"/>
              <a:t>Louvain Method:</a:t>
            </a:r>
            <a:br>
              <a:rPr lang="en-US" sz="2000" dirty="0"/>
            </a:br>
            <a:r>
              <a:rPr lang="en-US" sz="2000" dirty="0"/>
              <a:t>Optimizes </a:t>
            </a:r>
            <a:r>
              <a:rPr lang="en-US" sz="2000" b="1" dirty="0"/>
              <a:t>modularity score</a:t>
            </a:r>
            <a:r>
              <a:rPr lang="en-US" sz="2000" dirty="0"/>
              <a:t> to find best community structure </a:t>
            </a:r>
          </a:p>
          <a:p>
            <a:pPr>
              <a:buFont typeface="Arial" panose="020B0604020202020204" pitchFamily="34" charset="0"/>
              <a:buChar char="•"/>
            </a:pPr>
            <a:r>
              <a:rPr lang="en-US" sz="2000" dirty="0"/>
              <a:t>Helps identify </a:t>
            </a:r>
            <a:r>
              <a:rPr lang="en-US" sz="2000" b="1" dirty="0"/>
              <a:t>hidden patterns and group behavior</a:t>
            </a:r>
            <a:r>
              <a:rPr lang="en-US" sz="2000" dirty="0"/>
              <a:t> in networks</a:t>
            </a:r>
          </a:p>
        </p:txBody>
      </p:sp>
      <p:sp>
        <p:nvSpPr>
          <p:cNvPr id="6" name="TextBox 5">
            <a:extLst>
              <a:ext uri="{FF2B5EF4-FFF2-40B4-BE49-F238E27FC236}">
                <a16:creationId xmlns:a16="http://schemas.microsoft.com/office/drawing/2014/main" id="{18C69725-2ED4-890C-C339-64CE66603BF8}"/>
              </a:ext>
            </a:extLst>
          </p:cNvPr>
          <p:cNvSpPr txBox="1"/>
          <p:nvPr/>
        </p:nvSpPr>
        <p:spPr>
          <a:xfrm>
            <a:off x="551905" y="3857374"/>
            <a:ext cx="8997043" cy="1631216"/>
          </a:xfrm>
          <a:prstGeom prst="rect">
            <a:avLst/>
          </a:prstGeom>
          <a:noFill/>
        </p:spPr>
        <p:txBody>
          <a:bodyPr wrap="square">
            <a:spAutoFit/>
          </a:bodyPr>
          <a:lstStyle/>
          <a:p>
            <a:pPr>
              <a:buNone/>
            </a:pPr>
            <a:r>
              <a:rPr lang="en-IN" sz="2000" b="1" dirty="0"/>
              <a:t>4. Implementation</a:t>
            </a:r>
          </a:p>
          <a:p>
            <a:pPr>
              <a:buFont typeface="Arial" panose="020B0604020202020204" pitchFamily="34" charset="0"/>
              <a:buChar char="•"/>
            </a:pPr>
            <a:r>
              <a:rPr lang="en-IN" sz="2000" dirty="0"/>
              <a:t>Developed using </a:t>
            </a:r>
            <a:r>
              <a:rPr lang="en-IN" sz="2000" b="1" dirty="0"/>
              <a:t>Python libraries</a:t>
            </a:r>
            <a:r>
              <a:rPr lang="en-IN" sz="2000" dirty="0"/>
              <a:t>: </a:t>
            </a:r>
            <a:r>
              <a:rPr lang="en-IN" sz="2000" dirty="0" err="1"/>
              <a:t>NetworkX</a:t>
            </a:r>
            <a:r>
              <a:rPr lang="en-IN" sz="2000" dirty="0"/>
              <a:t>, Louvain, NumPy, Matplotlib </a:t>
            </a:r>
          </a:p>
          <a:p>
            <a:pPr>
              <a:buFont typeface="Arial" panose="020B0604020202020204" pitchFamily="34" charset="0"/>
              <a:buChar char="•"/>
            </a:pPr>
            <a:r>
              <a:rPr lang="en-IN" sz="2000" dirty="0"/>
              <a:t>Algorithms applied on </a:t>
            </a:r>
            <a:r>
              <a:rPr lang="en-IN" sz="2000" b="1" dirty="0"/>
              <a:t>same dataset for fair comparison</a:t>
            </a:r>
            <a:r>
              <a:rPr lang="en-IN" sz="2000" dirty="0"/>
              <a:t> </a:t>
            </a:r>
          </a:p>
          <a:p>
            <a:pPr>
              <a:buFont typeface="Arial" panose="020B0604020202020204" pitchFamily="34" charset="0"/>
              <a:buChar char="•"/>
            </a:pPr>
            <a:r>
              <a:rPr lang="en-IN" sz="2000" dirty="0"/>
              <a:t>Results visualized using </a:t>
            </a:r>
            <a:r>
              <a:rPr lang="en-IN" sz="2000" b="1" dirty="0"/>
              <a:t>graph plots</a:t>
            </a:r>
            <a:r>
              <a:rPr lang="en-IN" sz="2000" dirty="0"/>
              <a:t> </a:t>
            </a:r>
          </a:p>
          <a:p>
            <a:pPr>
              <a:buFont typeface="Arial" panose="020B0604020202020204" pitchFamily="34" charset="0"/>
              <a:buChar char="•"/>
            </a:pPr>
            <a:r>
              <a:rPr lang="en-IN" sz="2000" dirty="0"/>
              <a:t>Performance evaluated using </a:t>
            </a:r>
            <a:r>
              <a:rPr lang="en-IN" sz="2000" b="1" dirty="0"/>
              <a:t>modularity and accuracy</a:t>
            </a:r>
            <a:endParaRPr lang="en-IN" sz="2000" dirty="0"/>
          </a:p>
        </p:txBody>
      </p:sp>
    </p:spTree>
    <p:extLst>
      <p:ext uri="{BB962C8B-B14F-4D97-AF65-F5344CB8AC3E}">
        <p14:creationId xmlns:p14="http://schemas.microsoft.com/office/powerpoint/2010/main" val="366149420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48D195-D759-41F4-D39B-BAB7AE45EFA5}"/>
              </a:ext>
            </a:extLst>
          </p:cNvPr>
          <p:cNvSpPr>
            <a:spLocks noGrp="1"/>
          </p:cNvSpPr>
          <p:nvPr>
            <p:ph type="title"/>
          </p:nvPr>
        </p:nvSpPr>
        <p:spPr/>
        <p:txBody>
          <a:bodyPr/>
          <a:lstStyle/>
          <a:p>
            <a:r>
              <a:rPr lang="en-US" dirty="0"/>
              <a:t>Execution </a:t>
            </a:r>
            <a:endParaRPr lang="en-IN" dirty="0"/>
          </a:p>
        </p:txBody>
      </p:sp>
      <p:sp>
        <p:nvSpPr>
          <p:cNvPr id="5" name="TextBox 4">
            <a:extLst>
              <a:ext uri="{FF2B5EF4-FFF2-40B4-BE49-F238E27FC236}">
                <a16:creationId xmlns:a16="http://schemas.microsoft.com/office/drawing/2014/main" id="{2C8D7C51-9A59-7ECF-51E9-825D097CD762}"/>
              </a:ext>
            </a:extLst>
          </p:cNvPr>
          <p:cNvSpPr txBox="1"/>
          <p:nvPr/>
        </p:nvSpPr>
        <p:spPr>
          <a:xfrm>
            <a:off x="521207" y="1295073"/>
            <a:ext cx="7407451" cy="5262979"/>
          </a:xfrm>
          <a:prstGeom prst="rect">
            <a:avLst/>
          </a:prstGeom>
          <a:noFill/>
        </p:spPr>
        <p:txBody>
          <a:bodyPr wrap="square">
            <a:spAutoFit/>
          </a:bodyPr>
          <a:lstStyle/>
          <a:p>
            <a:pPr>
              <a:buNone/>
            </a:pPr>
            <a:r>
              <a:rPr lang="en-IN" sz="2400" b="1" dirty="0"/>
              <a:t>System Execution</a:t>
            </a:r>
          </a:p>
          <a:p>
            <a:pPr>
              <a:buNone/>
            </a:pPr>
            <a:endParaRPr lang="en-IN" sz="2400" b="1" dirty="0"/>
          </a:p>
          <a:p>
            <a:pPr>
              <a:buFont typeface="Arial" panose="020B0604020202020204" pitchFamily="34" charset="0"/>
              <a:buChar char="•"/>
            </a:pPr>
            <a:r>
              <a:rPr lang="en-IN" sz="2400" dirty="0"/>
              <a:t>Convert data into </a:t>
            </a:r>
            <a:r>
              <a:rPr lang="en-IN" sz="2400" b="1" dirty="0"/>
              <a:t>graph (nodes = users, edges = connections)</a:t>
            </a:r>
            <a:r>
              <a:rPr lang="en-IN" sz="2400" dirty="0"/>
              <a:t> </a:t>
            </a:r>
          </a:p>
          <a:p>
            <a:pPr>
              <a:buFont typeface="Arial" panose="020B0604020202020204" pitchFamily="34" charset="0"/>
              <a:buChar char="•"/>
            </a:pPr>
            <a:r>
              <a:rPr lang="en-IN" sz="2400" dirty="0"/>
              <a:t>Clean data (remove duplicates, self-loops, isolated nodes) </a:t>
            </a:r>
          </a:p>
          <a:p>
            <a:pPr>
              <a:buFont typeface="Arial" panose="020B0604020202020204" pitchFamily="34" charset="0"/>
              <a:buChar char="•"/>
            </a:pPr>
            <a:r>
              <a:rPr lang="en-IN" sz="2400" dirty="0"/>
              <a:t>Apply algorithms: </a:t>
            </a:r>
          </a:p>
          <a:p>
            <a:pPr marL="742950" lvl="1" indent="-285750">
              <a:buFont typeface="Arial" panose="020B0604020202020204" pitchFamily="34" charset="0"/>
              <a:buChar char="•"/>
            </a:pPr>
            <a:r>
              <a:rPr lang="en-IN" sz="2400" b="1" dirty="0"/>
              <a:t>Clique Percolation</a:t>
            </a:r>
            <a:r>
              <a:rPr lang="en-IN" sz="2400" dirty="0"/>
              <a:t> → overlapping groups </a:t>
            </a:r>
          </a:p>
          <a:p>
            <a:pPr marL="742950" lvl="1" indent="-285750">
              <a:buFont typeface="Arial" panose="020B0604020202020204" pitchFamily="34" charset="0"/>
              <a:buChar char="•"/>
            </a:pPr>
            <a:r>
              <a:rPr lang="en-IN" sz="2400" b="1" dirty="0"/>
              <a:t>Random Walk</a:t>
            </a:r>
            <a:r>
              <a:rPr lang="en-IN" sz="2400" dirty="0"/>
              <a:t> → dense regions </a:t>
            </a:r>
          </a:p>
          <a:p>
            <a:pPr marL="742950" lvl="1" indent="-285750">
              <a:buFont typeface="Arial" panose="020B0604020202020204" pitchFamily="34" charset="0"/>
              <a:buChar char="•"/>
            </a:pPr>
            <a:r>
              <a:rPr lang="en-IN" sz="2400" b="1" dirty="0"/>
              <a:t>Louvain</a:t>
            </a:r>
            <a:r>
              <a:rPr lang="en-IN" sz="2400" dirty="0"/>
              <a:t> → best community structure </a:t>
            </a:r>
          </a:p>
          <a:p>
            <a:pPr>
              <a:buFont typeface="Arial" panose="020B0604020202020204" pitchFamily="34" charset="0"/>
              <a:buChar char="•"/>
            </a:pPr>
            <a:r>
              <a:rPr lang="en-IN" sz="2400" dirty="0"/>
              <a:t>Visualize results: </a:t>
            </a:r>
          </a:p>
          <a:p>
            <a:pPr marL="742950" lvl="1" indent="-285750">
              <a:buFont typeface="Arial" panose="020B0604020202020204" pitchFamily="34" charset="0"/>
              <a:buChar char="•"/>
            </a:pPr>
            <a:r>
              <a:rPr lang="en-IN" sz="2400" dirty="0"/>
              <a:t>Nodes grouped into </a:t>
            </a:r>
            <a:r>
              <a:rPr lang="en-IN" sz="2400" b="1" dirty="0" err="1"/>
              <a:t>colored</a:t>
            </a:r>
            <a:r>
              <a:rPr lang="en-IN" sz="2400" b="1" dirty="0"/>
              <a:t> clusters</a:t>
            </a:r>
            <a:r>
              <a:rPr lang="en-IN" sz="2400" dirty="0"/>
              <a:t> </a:t>
            </a:r>
          </a:p>
          <a:p>
            <a:pPr>
              <a:buFont typeface="Arial" panose="020B0604020202020204" pitchFamily="34" charset="0"/>
              <a:buChar char="•"/>
            </a:pPr>
            <a:r>
              <a:rPr lang="en-IN" sz="2400" b="1" dirty="0"/>
              <a:t>Outcome:</a:t>
            </a:r>
            <a:r>
              <a:rPr lang="en-IN" sz="2400" dirty="0"/>
              <a:t> Easy understanding of community patterns</a:t>
            </a:r>
          </a:p>
        </p:txBody>
      </p:sp>
    </p:spTree>
    <p:extLst>
      <p:ext uri="{BB962C8B-B14F-4D97-AF65-F5344CB8AC3E}">
        <p14:creationId xmlns:p14="http://schemas.microsoft.com/office/powerpoint/2010/main" val="84899605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813DD58-CF63-C6B9-B621-B0C8A4F8FC7D}"/>
              </a:ext>
            </a:extLst>
          </p:cNvPr>
          <p:cNvSpPr txBox="1"/>
          <p:nvPr/>
        </p:nvSpPr>
        <p:spPr>
          <a:xfrm>
            <a:off x="570054" y="851267"/>
            <a:ext cx="6094070" cy="369332"/>
          </a:xfrm>
          <a:prstGeom prst="rect">
            <a:avLst/>
          </a:prstGeom>
          <a:noFill/>
        </p:spPr>
        <p:txBody>
          <a:bodyPr wrap="square">
            <a:spAutoFit/>
          </a:bodyPr>
          <a:lstStyle/>
          <a:p>
            <a:r>
              <a:rPr lang="en-US" sz="1800" dirty="0"/>
              <a:t>Results</a:t>
            </a:r>
            <a:endParaRPr lang="en-IN" sz="1800" dirty="0"/>
          </a:p>
        </p:txBody>
      </p:sp>
      <p:pic>
        <p:nvPicPr>
          <p:cNvPr id="4" name="Picture 3">
            <a:extLst>
              <a:ext uri="{FF2B5EF4-FFF2-40B4-BE49-F238E27FC236}">
                <a16:creationId xmlns:a16="http://schemas.microsoft.com/office/drawing/2014/main" id="{BEE782F8-0898-6DB3-A358-0F1E2F37905E}"/>
              </a:ext>
            </a:extLst>
          </p:cNvPr>
          <p:cNvPicPr>
            <a:picLocks noChangeAspect="1"/>
          </p:cNvPicPr>
          <p:nvPr/>
        </p:nvPicPr>
        <p:blipFill>
          <a:blip r:embed="rId2"/>
          <a:stretch>
            <a:fillRect/>
          </a:stretch>
        </p:blipFill>
        <p:spPr>
          <a:xfrm>
            <a:off x="344130" y="2594641"/>
            <a:ext cx="3854462" cy="2773773"/>
          </a:xfrm>
          <a:prstGeom prst="rect">
            <a:avLst/>
          </a:prstGeom>
        </p:spPr>
      </p:pic>
      <p:pic>
        <p:nvPicPr>
          <p:cNvPr id="7" name="Picture 6">
            <a:extLst>
              <a:ext uri="{FF2B5EF4-FFF2-40B4-BE49-F238E27FC236}">
                <a16:creationId xmlns:a16="http://schemas.microsoft.com/office/drawing/2014/main" id="{F9A1FE4B-3111-C651-19B5-8644CDAC7D72}"/>
              </a:ext>
            </a:extLst>
          </p:cNvPr>
          <p:cNvPicPr>
            <a:picLocks noChangeAspect="1"/>
          </p:cNvPicPr>
          <p:nvPr/>
        </p:nvPicPr>
        <p:blipFill>
          <a:blip r:embed="rId3"/>
          <a:stretch>
            <a:fillRect/>
          </a:stretch>
        </p:blipFill>
        <p:spPr>
          <a:xfrm>
            <a:off x="4426755" y="2594641"/>
            <a:ext cx="3854463" cy="2773772"/>
          </a:xfrm>
          <a:prstGeom prst="rect">
            <a:avLst/>
          </a:prstGeom>
        </p:spPr>
      </p:pic>
      <p:pic>
        <p:nvPicPr>
          <p:cNvPr id="9" name="Picture 8">
            <a:extLst>
              <a:ext uri="{FF2B5EF4-FFF2-40B4-BE49-F238E27FC236}">
                <a16:creationId xmlns:a16="http://schemas.microsoft.com/office/drawing/2014/main" id="{DD064639-AF08-ADB4-61D2-929B80514CE6}"/>
              </a:ext>
            </a:extLst>
          </p:cNvPr>
          <p:cNvPicPr>
            <a:picLocks noChangeAspect="1"/>
          </p:cNvPicPr>
          <p:nvPr/>
        </p:nvPicPr>
        <p:blipFill>
          <a:blip r:embed="rId4"/>
          <a:stretch>
            <a:fillRect/>
          </a:stretch>
        </p:blipFill>
        <p:spPr>
          <a:xfrm>
            <a:off x="8509381" y="2664542"/>
            <a:ext cx="3338489" cy="2703871"/>
          </a:xfrm>
          <a:prstGeom prst="rect">
            <a:avLst/>
          </a:prstGeom>
        </p:spPr>
      </p:pic>
    </p:spTree>
    <p:extLst>
      <p:ext uri="{BB962C8B-B14F-4D97-AF65-F5344CB8AC3E}">
        <p14:creationId xmlns:p14="http://schemas.microsoft.com/office/powerpoint/2010/main" val="140000764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E2FEF09-3916-D26E-8905-97DD2164C9B5}"/>
              </a:ext>
            </a:extLst>
          </p:cNvPr>
          <p:cNvSpPr txBox="1"/>
          <p:nvPr/>
        </p:nvSpPr>
        <p:spPr>
          <a:xfrm>
            <a:off x="685801" y="828118"/>
            <a:ext cx="6094070" cy="369332"/>
          </a:xfrm>
          <a:prstGeom prst="rect">
            <a:avLst/>
          </a:prstGeom>
          <a:noFill/>
        </p:spPr>
        <p:txBody>
          <a:bodyPr wrap="square">
            <a:spAutoFit/>
          </a:bodyPr>
          <a:lstStyle/>
          <a:p>
            <a:r>
              <a:rPr lang="en-US" sz="1800" dirty="0"/>
              <a:t>Results</a:t>
            </a:r>
            <a:endParaRPr lang="en-IN" sz="1800" dirty="0"/>
          </a:p>
        </p:txBody>
      </p:sp>
      <p:pic>
        <p:nvPicPr>
          <p:cNvPr id="4" name="Picture 3">
            <a:extLst>
              <a:ext uri="{FF2B5EF4-FFF2-40B4-BE49-F238E27FC236}">
                <a16:creationId xmlns:a16="http://schemas.microsoft.com/office/drawing/2014/main" id="{02A1C1AB-B021-171C-23F4-239A170CEC28}"/>
              </a:ext>
            </a:extLst>
          </p:cNvPr>
          <p:cNvPicPr>
            <a:picLocks noChangeAspect="1"/>
          </p:cNvPicPr>
          <p:nvPr/>
        </p:nvPicPr>
        <p:blipFill>
          <a:blip r:embed="rId2"/>
          <a:stretch>
            <a:fillRect/>
          </a:stretch>
        </p:blipFill>
        <p:spPr>
          <a:xfrm>
            <a:off x="1034538" y="2028056"/>
            <a:ext cx="4294546" cy="3667125"/>
          </a:xfrm>
          <a:prstGeom prst="rect">
            <a:avLst/>
          </a:prstGeom>
        </p:spPr>
      </p:pic>
      <p:pic>
        <p:nvPicPr>
          <p:cNvPr id="7" name="Picture 6">
            <a:extLst>
              <a:ext uri="{FF2B5EF4-FFF2-40B4-BE49-F238E27FC236}">
                <a16:creationId xmlns:a16="http://schemas.microsoft.com/office/drawing/2014/main" id="{977E69C1-B9A5-F88B-CEA6-F8EB69AA6BBD}"/>
              </a:ext>
            </a:extLst>
          </p:cNvPr>
          <p:cNvPicPr>
            <a:picLocks noChangeAspect="1"/>
          </p:cNvPicPr>
          <p:nvPr/>
        </p:nvPicPr>
        <p:blipFill>
          <a:blip r:embed="rId3"/>
          <a:stretch>
            <a:fillRect/>
          </a:stretch>
        </p:blipFill>
        <p:spPr>
          <a:xfrm>
            <a:off x="6312310" y="2028057"/>
            <a:ext cx="4771717" cy="3667125"/>
          </a:xfrm>
          <a:prstGeom prst="rect">
            <a:avLst/>
          </a:prstGeom>
        </p:spPr>
      </p:pic>
    </p:spTree>
    <p:extLst>
      <p:ext uri="{BB962C8B-B14F-4D97-AF65-F5344CB8AC3E}">
        <p14:creationId xmlns:p14="http://schemas.microsoft.com/office/powerpoint/2010/main" val="73907443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C8C36FFD-6B05-756B-DB48-6BB5037F15B7}"/>
              </a:ext>
            </a:extLst>
          </p:cNvPr>
          <p:cNvPicPr>
            <a:picLocks noChangeAspect="1"/>
          </p:cNvPicPr>
          <p:nvPr/>
        </p:nvPicPr>
        <p:blipFill>
          <a:blip r:embed="rId2"/>
          <a:stretch>
            <a:fillRect/>
          </a:stretch>
        </p:blipFill>
        <p:spPr>
          <a:xfrm>
            <a:off x="908191" y="1380024"/>
            <a:ext cx="3939113" cy="2307071"/>
          </a:xfrm>
          <a:prstGeom prst="rect">
            <a:avLst/>
          </a:prstGeom>
        </p:spPr>
      </p:pic>
      <p:sp>
        <p:nvSpPr>
          <p:cNvPr id="3" name="TextBox 2">
            <a:extLst>
              <a:ext uri="{FF2B5EF4-FFF2-40B4-BE49-F238E27FC236}">
                <a16:creationId xmlns:a16="http://schemas.microsoft.com/office/drawing/2014/main" id="{1A46652B-72E1-DCB3-25E4-822D2379928D}"/>
              </a:ext>
            </a:extLst>
          </p:cNvPr>
          <p:cNvSpPr txBox="1"/>
          <p:nvPr/>
        </p:nvSpPr>
        <p:spPr>
          <a:xfrm>
            <a:off x="755249" y="804969"/>
            <a:ext cx="6094070" cy="369332"/>
          </a:xfrm>
          <a:prstGeom prst="rect">
            <a:avLst/>
          </a:prstGeom>
          <a:noFill/>
        </p:spPr>
        <p:txBody>
          <a:bodyPr wrap="square">
            <a:spAutoFit/>
          </a:bodyPr>
          <a:lstStyle/>
          <a:p>
            <a:r>
              <a:rPr lang="en-US" sz="1800" dirty="0"/>
              <a:t>Results</a:t>
            </a:r>
            <a:endParaRPr lang="en-IN" sz="1800" dirty="0"/>
          </a:p>
        </p:txBody>
      </p:sp>
      <p:pic>
        <p:nvPicPr>
          <p:cNvPr id="8" name="Picture 7">
            <a:extLst>
              <a:ext uri="{FF2B5EF4-FFF2-40B4-BE49-F238E27FC236}">
                <a16:creationId xmlns:a16="http://schemas.microsoft.com/office/drawing/2014/main" id="{7760840E-B9A1-9A15-7E59-9E75E05C06B7}"/>
              </a:ext>
            </a:extLst>
          </p:cNvPr>
          <p:cNvPicPr>
            <a:picLocks noChangeAspect="1"/>
          </p:cNvPicPr>
          <p:nvPr/>
        </p:nvPicPr>
        <p:blipFill>
          <a:blip r:embed="rId3"/>
          <a:stretch>
            <a:fillRect/>
          </a:stretch>
        </p:blipFill>
        <p:spPr>
          <a:xfrm>
            <a:off x="7256207" y="1350528"/>
            <a:ext cx="3814916" cy="2366065"/>
          </a:xfrm>
          <a:prstGeom prst="rect">
            <a:avLst/>
          </a:prstGeom>
        </p:spPr>
      </p:pic>
      <p:pic>
        <p:nvPicPr>
          <p:cNvPr id="9" name="Picture 8">
            <a:extLst>
              <a:ext uri="{FF2B5EF4-FFF2-40B4-BE49-F238E27FC236}">
                <a16:creationId xmlns:a16="http://schemas.microsoft.com/office/drawing/2014/main" id="{B4675ABF-B8D2-39F0-767B-7BFB1FDCF482}"/>
              </a:ext>
            </a:extLst>
          </p:cNvPr>
          <p:cNvPicPr>
            <a:picLocks noChangeAspect="1"/>
          </p:cNvPicPr>
          <p:nvPr/>
        </p:nvPicPr>
        <p:blipFill>
          <a:blip r:embed="rId4"/>
          <a:stretch>
            <a:fillRect/>
          </a:stretch>
        </p:blipFill>
        <p:spPr>
          <a:xfrm>
            <a:off x="790203" y="3892818"/>
            <a:ext cx="4175088" cy="2585885"/>
          </a:xfrm>
          <a:prstGeom prst="rect">
            <a:avLst/>
          </a:prstGeom>
        </p:spPr>
      </p:pic>
      <p:pic>
        <p:nvPicPr>
          <p:cNvPr id="10" name="Picture 9">
            <a:extLst>
              <a:ext uri="{FF2B5EF4-FFF2-40B4-BE49-F238E27FC236}">
                <a16:creationId xmlns:a16="http://schemas.microsoft.com/office/drawing/2014/main" id="{8E928531-6B3B-BCC6-5EFB-C4DE7AC25F69}"/>
              </a:ext>
            </a:extLst>
          </p:cNvPr>
          <p:cNvPicPr>
            <a:picLocks noChangeAspect="1"/>
          </p:cNvPicPr>
          <p:nvPr/>
        </p:nvPicPr>
        <p:blipFill>
          <a:blip r:embed="rId5"/>
          <a:stretch>
            <a:fillRect/>
          </a:stretch>
        </p:blipFill>
        <p:spPr>
          <a:xfrm>
            <a:off x="7324267" y="3921138"/>
            <a:ext cx="3678796" cy="2557565"/>
          </a:xfrm>
          <a:prstGeom prst="rect">
            <a:avLst/>
          </a:prstGeom>
        </p:spPr>
      </p:pic>
    </p:spTree>
    <p:extLst>
      <p:ext uri="{BB962C8B-B14F-4D97-AF65-F5344CB8AC3E}">
        <p14:creationId xmlns:p14="http://schemas.microsoft.com/office/powerpoint/2010/main" val="86850692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9E19F34-1B13-23F4-235B-1DE1CEF28147}"/>
              </a:ext>
            </a:extLst>
          </p:cNvPr>
          <p:cNvSpPr txBox="1"/>
          <p:nvPr/>
        </p:nvSpPr>
        <p:spPr>
          <a:xfrm>
            <a:off x="766823" y="839693"/>
            <a:ext cx="6094070" cy="369332"/>
          </a:xfrm>
          <a:prstGeom prst="rect">
            <a:avLst/>
          </a:prstGeom>
          <a:noFill/>
        </p:spPr>
        <p:txBody>
          <a:bodyPr wrap="square">
            <a:spAutoFit/>
          </a:bodyPr>
          <a:lstStyle/>
          <a:p>
            <a:r>
              <a:rPr lang="en-US" sz="1800" dirty="0"/>
              <a:t>Results</a:t>
            </a:r>
            <a:endParaRPr lang="en-IN" sz="1800" dirty="0"/>
          </a:p>
        </p:txBody>
      </p:sp>
      <p:pic>
        <p:nvPicPr>
          <p:cNvPr id="2" name="Picture 1">
            <a:extLst>
              <a:ext uri="{FF2B5EF4-FFF2-40B4-BE49-F238E27FC236}">
                <a16:creationId xmlns:a16="http://schemas.microsoft.com/office/drawing/2014/main" id="{3711495C-A3AB-A857-9E4B-49540AA733FF}"/>
              </a:ext>
            </a:extLst>
          </p:cNvPr>
          <p:cNvPicPr>
            <a:picLocks noChangeAspect="1"/>
          </p:cNvPicPr>
          <p:nvPr/>
        </p:nvPicPr>
        <p:blipFill>
          <a:blip r:embed="rId2"/>
          <a:stretch>
            <a:fillRect/>
          </a:stretch>
        </p:blipFill>
        <p:spPr>
          <a:xfrm>
            <a:off x="676892" y="1410168"/>
            <a:ext cx="3865610" cy="2557565"/>
          </a:xfrm>
          <a:prstGeom prst="rect">
            <a:avLst/>
          </a:prstGeom>
        </p:spPr>
      </p:pic>
      <p:pic>
        <p:nvPicPr>
          <p:cNvPr id="4" name="Picture 3">
            <a:extLst>
              <a:ext uri="{FF2B5EF4-FFF2-40B4-BE49-F238E27FC236}">
                <a16:creationId xmlns:a16="http://schemas.microsoft.com/office/drawing/2014/main" id="{046B5652-4181-9EEB-0D3E-C51066C8904B}"/>
              </a:ext>
            </a:extLst>
          </p:cNvPr>
          <p:cNvPicPr>
            <a:picLocks noChangeAspect="1"/>
          </p:cNvPicPr>
          <p:nvPr/>
        </p:nvPicPr>
        <p:blipFill>
          <a:blip r:embed="rId3"/>
          <a:stretch>
            <a:fillRect/>
          </a:stretch>
        </p:blipFill>
        <p:spPr>
          <a:xfrm>
            <a:off x="7746761" y="1499246"/>
            <a:ext cx="3865609" cy="2379408"/>
          </a:xfrm>
          <a:prstGeom prst="rect">
            <a:avLst/>
          </a:prstGeom>
        </p:spPr>
      </p:pic>
      <p:pic>
        <p:nvPicPr>
          <p:cNvPr id="6" name="Picture 5">
            <a:extLst>
              <a:ext uri="{FF2B5EF4-FFF2-40B4-BE49-F238E27FC236}">
                <a16:creationId xmlns:a16="http://schemas.microsoft.com/office/drawing/2014/main" id="{13CFFFCF-B5B1-D70F-5E0B-8AA57DAEA364}"/>
              </a:ext>
            </a:extLst>
          </p:cNvPr>
          <p:cNvPicPr>
            <a:picLocks noChangeAspect="1"/>
          </p:cNvPicPr>
          <p:nvPr/>
        </p:nvPicPr>
        <p:blipFill>
          <a:blip r:embed="rId4"/>
          <a:stretch>
            <a:fillRect/>
          </a:stretch>
        </p:blipFill>
        <p:spPr>
          <a:xfrm>
            <a:off x="4001729" y="4080387"/>
            <a:ext cx="4178710" cy="2453211"/>
          </a:xfrm>
          <a:prstGeom prst="rect">
            <a:avLst/>
          </a:prstGeom>
        </p:spPr>
      </p:pic>
    </p:spTree>
    <p:extLst>
      <p:ext uri="{BB962C8B-B14F-4D97-AF65-F5344CB8AC3E}">
        <p14:creationId xmlns:p14="http://schemas.microsoft.com/office/powerpoint/2010/main" val="375998841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0C15ACE8-87A3-E8AE-4478-F83FD8265B3C}"/>
              </a:ext>
            </a:extLst>
          </p:cNvPr>
          <p:cNvSpPr txBox="1"/>
          <p:nvPr/>
        </p:nvSpPr>
        <p:spPr>
          <a:xfrm>
            <a:off x="5753033" y="604892"/>
            <a:ext cx="6094070" cy="461665"/>
          </a:xfrm>
          <a:prstGeom prst="rect">
            <a:avLst/>
          </a:prstGeom>
          <a:noFill/>
        </p:spPr>
        <p:txBody>
          <a:bodyPr wrap="square">
            <a:spAutoFit/>
          </a:bodyPr>
          <a:lstStyle/>
          <a:p>
            <a:r>
              <a:rPr lang="en-US" sz="2400" dirty="0"/>
              <a:t>Results</a:t>
            </a:r>
            <a:endParaRPr lang="en-IN" sz="2400" dirty="0"/>
          </a:p>
        </p:txBody>
      </p:sp>
      <p:sp>
        <p:nvSpPr>
          <p:cNvPr id="5" name="TextBox 4">
            <a:extLst>
              <a:ext uri="{FF2B5EF4-FFF2-40B4-BE49-F238E27FC236}">
                <a16:creationId xmlns:a16="http://schemas.microsoft.com/office/drawing/2014/main" id="{F6537EFF-DCA8-F0B7-A755-29493CFA7E0B}"/>
              </a:ext>
            </a:extLst>
          </p:cNvPr>
          <p:cNvSpPr txBox="1"/>
          <p:nvPr/>
        </p:nvSpPr>
        <p:spPr>
          <a:xfrm>
            <a:off x="842681" y="1506542"/>
            <a:ext cx="10309413" cy="923330"/>
          </a:xfrm>
          <a:prstGeom prst="rect">
            <a:avLst/>
          </a:prstGeom>
          <a:noFill/>
        </p:spPr>
        <p:txBody>
          <a:bodyPr wrap="square">
            <a:spAutoFit/>
          </a:bodyPr>
          <a:lstStyle/>
          <a:p>
            <a:pPr marL="285750" indent="-285750">
              <a:buFont typeface="Arial" panose="020B0604020202020204" pitchFamily="34" charset="0"/>
              <a:buChar char="•"/>
            </a:pPr>
            <a:r>
              <a:rPr lang="en-US" dirty="0"/>
              <a:t>The datasets are uploaded and the code is executed in the Google </a:t>
            </a:r>
            <a:r>
              <a:rPr lang="en-US" dirty="0" err="1"/>
              <a:t>Colab</a:t>
            </a:r>
            <a:r>
              <a:rPr lang="en-US" dirty="0"/>
              <a:t> environment. Using 7 datasets and 3 different community detection methods, graph outputs are generated for each dataset.</a:t>
            </a:r>
          </a:p>
        </p:txBody>
      </p:sp>
      <p:sp>
        <p:nvSpPr>
          <p:cNvPr id="8" name="TextBox 7">
            <a:extLst>
              <a:ext uri="{FF2B5EF4-FFF2-40B4-BE49-F238E27FC236}">
                <a16:creationId xmlns:a16="http://schemas.microsoft.com/office/drawing/2014/main" id="{3079F907-C797-FD05-E433-D23FBFC78866}"/>
              </a:ext>
            </a:extLst>
          </p:cNvPr>
          <p:cNvSpPr txBox="1"/>
          <p:nvPr/>
        </p:nvSpPr>
        <p:spPr>
          <a:xfrm>
            <a:off x="842681" y="2429872"/>
            <a:ext cx="9610166" cy="1200329"/>
          </a:xfrm>
          <a:prstGeom prst="rect">
            <a:avLst/>
          </a:prstGeom>
          <a:noFill/>
        </p:spPr>
        <p:txBody>
          <a:bodyPr wrap="square">
            <a:spAutoFit/>
          </a:bodyPr>
          <a:lstStyle/>
          <a:p>
            <a:pPr marL="342900" indent="-342900">
              <a:buFont typeface="+mj-lt"/>
              <a:buAutoNum type="arabicPeriod"/>
            </a:pPr>
            <a:r>
              <a:rPr lang="en-US" dirty="0"/>
              <a:t>Louvain Method </a:t>
            </a:r>
          </a:p>
          <a:p>
            <a:pPr marL="342900" indent="-342900">
              <a:buFont typeface="+mj-lt"/>
              <a:buAutoNum type="arabicPeriod"/>
            </a:pPr>
            <a:r>
              <a:rPr lang="en-US" dirty="0"/>
              <a:t>Clique Percolation Method </a:t>
            </a:r>
          </a:p>
          <a:p>
            <a:pPr marL="342900" indent="-342900">
              <a:buFont typeface="+mj-lt"/>
              <a:buAutoNum type="arabicPeriod"/>
            </a:pPr>
            <a:r>
              <a:rPr lang="en-US" dirty="0"/>
              <a:t>Random Walk Method </a:t>
            </a:r>
          </a:p>
          <a:p>
            <a:r>
              <a:rPr lang="en-US" dirty="0"/>
              <a:t>are used to generate the community detection results and graph outputs.</a:t>
            </a:r>
          </a:p>
        </p:txBody>
      </p:sp>
      <p:sp>
        <p:nvSpPr>
          <p:cNvPr id="10" name="TextBox 9">
            <a:extLst>
              <a:ext uri="{FF2B5EF4-FFF2-40B4-BE49-F238E27FC236}">
                <a16:creationId xmlns:a16="http://schemas.microsoft.com/office/drawing/2014/main" id="{A63EF75C-BAC5-5ABE-83EE-72DB62F2D6E1}"/>
              </a:ext>
            </a:extLst>
          </p:cNvPr>
          <p:cNvSpPr txBox="1"/>
          <p:nvPr/>
        </p:nvSpPr>
        <p:spPr>
          <a:xfrm>
            <a:off x="842681" y="3608521"/>
            <a:ext cx="6096000" cy="369332"/>
          </a:xfrm>
          <a:prstGeom prst="rect">
            <a:avLst/>
          </a:prstGeom>
          <a:noFill/>
        </p:spPr>
        <p:txBody>
          <a:bodyPr wrap="square">
            <a:spAutoFit/>
          </a:bodyPr>
          <a:lstStyle/>
          <a:p>
            <a:pPr marL="285750" indent="-285750">
              <a:buFont typeface="Arial" panose="020B0604020202020204" pitchFamily="34" charset="0"/>
              <a:buChar char="•"/>
            </a:pPr>
            <a:r>
              <a:rPr lang="en-US" dirty="0"/>
              <a:t>It reveals </a:t>
            </a:r>
            <a:r>
              <a:rPr lang="en-US" b="1" dirty="0"/>
              <a:t>hidden patterns</a:t>
            </a:r>
            <a:r>
              <a:rPr lang="en-US" dirty="0"/>
              <a:t> in user behavior</a:t>
            </a:r>
            <a:endParaRPr lang="en-IN" dirty="0"/>
          </a:p>
        </p:txBody>
      </p:sp>
      <p:sp>
        <p:nvSpPr>
          <p:cNvPr id="12" name="TextBox 11">
            <a:extLst>
              <a:ext uri="{FF2B5EF4-FFF2-40B4-BE49-F238E27FC236}">
                <a16:creationId xmlns:a16="http://schemas.microsoft.com/office/drawing/2014/main" id="{91B8FFFD-3C62-4BF3-6823-2473BFD02B69}"/>
              </a:ext>
            </a:extLst>
          </p:cNvPr>
          <p:cNvSpPr txBox="1"/>
          <p:nvPr/>
        </p:nvSpPr>
        <p:spPr>
          <a:xfrm>
            <a:off x="842681" y="3977853"/>
            <a:ext cx="6096000" cy="646331"/>
          </a:xfrm>
          <a:prstGeom prst="rect">
            <a:avLst/>
          </a:prstGeom>
          <a:noFill/>
        </p:spPr>
        <p:txBody>
          <a:bodyPr wrap="square">
            <a:spAutoFit/>
          </a:bodyPr>
          <a:lstStyle/>
          <a:p>
            <a:pPr marL="285750" indent="-285750">
              <a:buFont typeface="Arial" panose="020B0604020202020204" pitchFamily="34" charset="0"/>
              <a:buChar char="•"/>
            </a:pPr>
            <a:r>
              <a:rPr lang="en-US" dirty="0"/>
              <a:t>Detects </a:t>
            </a:r>
            <a:r>
              <a:rPr lang="en-US" b="1" dirty="0"/>
              <a:t>overlapping groups</a:t>
            </a:r>
            <a:r>
              <a:rPr lang="en-US" dirty="0"/>
              <a:t> (a user can belong to multiple communities)</a:t>
            </a:r>
            <a:endParaRPr lang="en-IN" dirty="0"/>
          </a:p>
        </p:txBody>
      </p:sp>
      <p:sp>
        <p:nvSpPr>
          <p:cNvPr id="14" name="TextBox 13">
            <a:extLst>
              <a:ext uri="{FF2B5EF4-FFF2-40B4-BE49-F238E27FC236}">
                <a16:creationId xmlns:a16="http://schemas.microsoft.com/office/drawing/2014/main" id="{08D1F128-7D81-E29F-2D7A-FC28E92EFB3E}"/>
              </a:ext>
            </a:extLst>
          </p:cNvPr>
          <p:cNvSpPr txBox="1"/>
          <p:nvPr/>
        </p:nvSpPr>
        <p:spPr>
          <a:xfrm>
            <a:off x="842681" y="4648670"/>
            <a:ext cx="9484659" cy="646331"/>
          </a:xfrm>
          <a:prstGeom prst="rect">
            <a:avLst/>
          </a:prstGeom>
          <a:noFill/>
        </p:spPr>
        <p:txBody>
          <a:bodyPr wrap="square">
            <a:spAutoFit/>
          </a:bodyPr>
          <a:lstStyle/>
          <a:p>
            <a:pPr marL="285750" indent="-285750">
              <a:buFont typeface="Arial" panose="020B0604020202020204" pitchFamily="34" charset="0"/>
              <a:buChar char="•"/>
            </a:pPr>
            <a:r>
              <a:rPr lang="en-US" dirty="0"/>
              <a:t>Community detection helps in targeted marketing, content recommendations, spam detection, and understanding user interests in social networks.</a:t>
            </a:r>
          </a:p>
        </p:txBody>
      </p:sp>
    </p:spTree>
    <p:extLst>
      <p:ext uri="{BB962C8B-B14F-4D97-AF65-F5344CB8AC3E}">
        <p14:creationId xmlns:p14="http://schemas.microsoft.com/office/powerpoint/2010/main" val="417360363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A01298-8CBB-3B07-8E01-D7BA657AEEDF}"/>
              </a:ext>
            </a:extLst>
          </p:cNvPr>
          <p:cNvSpPr>
            <a:spLocks noGrp="1"/>
          </p:cNvSpPr>
          <p:nvPr>
            <p:ph type="title"/>
          </p:nvPr>
        </p:nvSpPr>
        <p:spPr/>
        <p:txBody>
          <a:bodyPr/>
          <a:lstStyle/>
          <a:p>
            <a:r>
              <a:rPr lang="en-US" b="1" dirty="0"/>
              <a:t>Conclusion</a:t>
            </a:r>
            <a:endParaRPr lang="en-IN" b="1" dirty="0"/>
          </a:p>
        </p:txBody>
      </p:sp>
      <p:sp>
        <p:nvSpPr>
          <p:cNvPr id="5" name="TextBox 4">
            <a:extLst>
              <a:ext uri="{FF2B5EF4-FFF2-40B4-BE49-F238E27FC236}">
                <a16:creationId xmlns:a16="http://schemas.microsoft.com/office/drawing/2014/main" id="{A5D6E1D2-BC85-06A4-5784-02A9654104D9}"/>
              </a:ext>
            </a:extLst>
          </p:cNvPr>
          <p:cNvSpPr txBox="1"/>
          <p:nvPr/>
        </p:nvSpPr>
        <p:spPr>
          <a:xfrm>
            <a:off x="669472" y="1404819"/>
            <a:ext cx="10303328" cy="3785652"/>
          </a:xfrm>
          <a:prstGeom prst="rect">
            <a:avLst/>
          </a:prstGeom>
          <a:noFill/>
        </p:spPr>
        <p:txBody>
          <a:bodyPr wrap="square">
            <a:spAutoFit/>
          </a:bodyPr>
          <a:lstStyle/>
          <a:p>
            <a:pPr>
              <a:buFont typeface="Arial" panose="020B0604020202020204" pitchFamily="34" charset="0"/>
              <a:buChar char="•"/>
            </a:pPr>
            <a:r>
              <a:rPr lang="en-US" sz="2400" dirty="0"/>
              <a:t>The system successfully detects communities in social networks based on user connections. </a:t>
            </a:r>
          </a:p>
          <a:p>
            <a:pPr>
              <a:buFont typeface="Arial" panose="020B0604020202020204" pitchFamily="34" charset="0"/>
              <a:buChar char="•"/>
            </a:pPr>
            <a:r>
              <a:rPr lang="en-US" sz="2400" dirty="0"/>
              <a:t>Visual outputs clearly show grouped users, making hidden patterns easy to understand. </a:t>
            </a:r>
          </a:p>
          <a:p>
            <a:pPr>
              <a:buFont typeface="Arial" panose="020B0604020202020204" pitchFamily="34" charset="0"/>
              <a:buChar char="•"/>
            </a:pPr>
            <a:r>
              <a:rPr lang="en-US" sz="2400" dirty="0"/>
              <a:t>Among all methods, the </a:t>
            </a:r>
            <a:r>
              <a:rPr lang="en-US" sz="2400" b="1" dirty="0"/>
              <a:t>Louvain algorithm</a:t>
            </a:r>
            <a:r>
              <a:rPr lang="en-US" sz="2400" dirty="0"/>
              <a:t> performed best, producing clear , well-structured </a:t>
            </a:r>
            <a:r>
              <a:rPr lang="en-US" sz="2400"/>
              <a:t>, </a:t>
            </a:r>
            <a:r>
              <a:rPr lang="en-US" sz="2400" dirty="0"/>
              <a:t>d</a:t>
            </a:r>
            <a:r>
              <a:rPr lang="en-US" sz="2400"/>
              <a:t>etect </a:t>
            </a:r>
            <a:r>
              <a:rPr lang="en-US" sz="2400" dirty="0"/>
              <a:t>large network communities and helps to maximizes the </a:t>
            </a:r>
            <a:r>
              <a:rPr lang="en-US" sz="2400" b="1" dirty="0"/>
              <a:t>Modularity.</a:t>
            </a:r>
          </a:p>
          <a:p>
            <a:pPr>
              <a:buFont typeface="Arial" panose="020B0604020202020204" pitchFamily="34" charset="0"/>
              <a:buChar char="•"/>
            </a:pPr>
            <a:r>
              <a:rPr lang="en-US" sz="2400" dirty="0"/>
              <a:t>Overall, community detection techniques effectively analyze complex networks and provide valuable insights into user behavior and relationships</a:t>
            </a:r>
            <a:r>
              <a:rPr lang="en-US" dirty="0"/>
              <a:t>. </a:t>
            </a:r>
          </a:p>
        </p:txBody>
      </p:sp>
    </p:spTree>
    <p:extLst>
      <p:ext uri="{BB962C8B-B14F-4D97-AF65-F5344CB8AC3E}">
        <p14:creationId xmlns:p14="http://schemas.microsoft.com/office/powerpoint/2010/main" val="365278222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6E76-5F83-9750-8618-8EF4E5C06AF0}"/>
              </a:ext>
            </a:extLst>
          </p:cNvPr>
          <p:cNvSpPr>
            <a:spLocks noGrp="1"/>
          </p:cNvSpPr>
          <p:nvPr>
            <p:ph type="title"/>
          </p:nvPr>
        </p:nvSpPr>
        <p:spPr/>
        <p:txBody>
          <a:bodyPr/>
          <a:lstStyle/>
          <a:p>
            <a:r>
              <a:rPr lang="en-US" b="1" dirty="0"/>
              <a:t>References</a:t>
            </a:r>
            <a:endParaRPr lang="en-IN" b="1" dirty="0"/>
          </a:p>
        </p:txBody>
      </p:sp>
      <p:sp>
        <p:nvSpPr>
          <p:cNvPr id="3" name="TextBox 2">
            <a:extLst>
              <a:ext uri="{FF2B5EF4-FFF2-40B4-BE49-F238E27FC236}">
                <a16:creationId xmlns:a16="http://schemas.microsoft.com/office/drawing/2014/main" id="{7AB2043A-74DD-825A-5E33-C70F5C220D69}"/>
              </a:ext>
            </a:extLst>
          </p:cNvPr>
          <p:cNvSpPr txBox="1"/>
          <p:nvPr/>
        </p:nvSpPr>
        <p:spPr>
          <a:xfrm>
            <a:off x="521207" y="1793827"/>
            <a:ext cx="11031696" cy="4247317"/>
          </a:xfrm>
          <a:prstGeom prst="rect">
            <a:avLst/>
          </a:prstGeom>
          <a:noFill/>
        </p:spPr>
        <p:txBody>
          <a:bodyPr wrap="square">
            <a:spAutoFit/>
          </a:bodyPr>
          <a:lstStyle/>
          <a:p>
            <a:pPr>
              <a:buNone/>
            </a:pPr>
            <a:r>
              <a:rPr lang="en-IN" b="1" dirty="0"/>
              <a:t>[1]</a:t>
            </a:r>
            <a:r>
              <a:rPr lang="en-IN" dirty="0"/>
              <a:t> Michelle Girvan and M. E. J. Newman, “Community structure in social and biological networks,” </a:t>
            </a:r>
            <a:r>
              <a:rPr lang="en-IN" i="1" dirty="0"/>
              <a:t>Proceedings of the National Academy of Sciences</a:t>
            </a:r>
            <a:r>
              <a:rPr lang="en-IN" dirty="0"/>
              <a:t>, 2002.</a:t>
            </a:r>
            <a:br>
              <a:rPr lang="en-IN" dirty="0"/>
            </a:br>
            <a:r>
              <a:rPr lang="en-IN" dirty="0">
                <a:solidFill>
                  <a:schemeClr val="accent1">
                    <a:lumMod val="75000"/>
                  </a:schemeClr>
                </a:solidFill>
              </a:rPr>
              <a:t> https://www.pnas.org/content/99/12/7821</a:t>
            </a:r>
          </a:p>
          <a:p>
            <a:pPr>
              <a:buNone/>
            </a:pPr>
            <a:r>
              <a:rPr lang="en-IN" b="1" dirty="0"/>
              <a:t>[2]</a:t>
            </a:r>
            <a:r>
              <a:rPr lang="en-IN" dirty="0"/>
              <a:t> M. E. J. Newman, “Modularity and community structure in networks,” </a:t>
            </a:r>
            <a:r>
              <a:rPr lang="en-IN" i="1" dirty="0"/>
              <a:t>Proceedings of the National Academy of Sciences</a:t>
            </a:r>
            <a:r>
              <a:rPr lang="en-IN" dirty="0"/>
              <a:t>, 2006.</a:t>
            </a:r>
            <a:br>
              <a:rPr lang="en-IN" dirty="0"/>
            </a:br>
            <a:r>
              <a:rPr lang="en-IN" dirty="0"/>
              <a:t> </a:t>
            </a:r>
            <a:r>
              <a:rPr lang="en-IN" dirty="0">
                <a:solidFill>
                  <a:schemeClr val="accent1">
                    <a:lumMod val="75000"/>
                  </a:schemeClr>
                </a:solidFill>
              </a:rPr>
              <a:t>https://www.pnas.org/content/103/23/8577</a:t>
            </a:r>
          </a:p>
          <a:p>
            <a:pPr>
              <a:buNone/>
            </a:pPr>
            <a:r>
              <a:rPr lang="en-IN" b="1" dirty="0"/>
              <a:t>[3]</a:t>
            </a:r>
            <a:r>
              <a:rPr lang="en-IN" dirty="0"/>
              <a:t> V. D. Blondel, J.-L. Guillaume, R. Lambiotte, and E. Lefebvre, “Fast unfolding of communities in large networks,” </a:t>
            </a:r>
            <a:r>
              <a:rPr lang="en-IN" i="1" dirty="0"/>
              <a:t>Journal of Statistical Mechanics: Theory and Experiment</a:t>
            </a:r>
            <a:r>
              <a:rPr lang="en-IN" dirty="0"/>
              <a:t>, 2008.</a:t>
            </a:r>
            <a:br>
              <a:rPr lang="en-IN" dirty="0"/>
            </a:br>
            <a:r>
              <a:rPr lang="en-IN" dirty="0"/>
              <a:t> </a:t>
            </a:r>
            <a:r>
              <a:rPr lang="en-IN" dirty="0">
                <a:solidFill>
                  <a:schemeClr val="accent1">
                    <a:lumMod val="75000"/>
                  </a:schemeClr>
                </a:solidFill>
              </a:rPr>
              <a:t>https://iopscience.iop.org/article/10.1088/1742-5468/2008/10/P10008</a:t>
            </a:r>
          </a:p>
          <a:p>
            <a:pPr>
              <a:buNone/>
            </a:pPr>
            <a:r>
              <a:rPr lang="en-IN" b="1" dirty="0"/>
              <a:t>[4]</a:t>
            </a:r>
            <a:r>
              <a:rPr lang="en-IN" dirty="0"/>
              <a:t> U. N. Raghavan, R. Albert, and S. Kumara, “Near linear time algorithm to detect community structures in large-scale networks,” </a:t>
            </a:r>
            <a:r>
              <a:rPr lang="en-IN" i="1" dirty="0"/>
              <a:t>Physical Review E</a:t>
            </a:r>
            <a:r>
              <a:rPr lang="en-IN" dirty="0"/>
              <a:t>, 2007.</a:t>
            </a:r>
            <a:br>
              <a:rPr lang="en-IN" dirty="0"/>
            </a:br>
            <a:r>
              <a:rPr lang="en-IN" dirty="0"/>
              <a:t> </a:t>
            </a:r>
            <a:r>
              <a:rPr lang="en-IN" dirty="0">
                <a:solidFill>
                  <a:schemeClr val="accent1">
                    <a:lumMod val="75000"/>
                  </a:schemeClr>
                </a:solidFill>
              </a:rPr>
              <a:t>https://journals.aps.org/pre/abstract/10.1103/PhysRevE.76.036106</a:t>
            </a:r>
          </a:p>
          <a:p>
            <a:pPr>
              <a:buNone/>
            </a:pPr>
            <a:r>
              <a:rPr lang="en-IN" b="1" dirty="0"/>
              <a:t>[5]</a:t>
            </a:r>
            <a:r>
              <a:rPr lang="en-IN" dirty="0"/>
              <a:t> S. Fortunato, “Community detection in graphs,” </a:t>
            </a:r>
            <a:r>
              <a:rPr lang="en-IN" i="1" dirty="0"/>
              <a:t>Physics Reports</a:t>
            </a:r>
            <a:r>
              <a:rPr lang="en-IN" dirty="0"/>
              <a:t>, 2010.</a:t>
            </a:r>
            <a:br>
              <a:rPr lang="en-IN" dirty="0"/>
            </a:br>
            <a:r>
              <a:rPr lang="en-IN" dirty="0"/>
              <a:t> </a:t>
            </a:r>
            <a:r>
              <a:rPr lang="en-IN" dirty="0">
                <a:solidFill>
                  <a:schemeClr val="accent1">
                    <a:lumMod val="75000"/>
                  </a:schemeClr>
                </a:solidFill>
              </a:rPr>
              <a:t>https://www.sciencedirect.com/science/article/pii/S0370157309002841</a:t>
            </a:r>
          </a:p>
          <a:p>
            <a:pPr>
              <a:buNone/>
            </a:pPr>
            <a:endParaRPr lang="en-IN" dirty="0">
              <a:solidFill>
                <a:schemeClr val="accent1">
                  <a:lumMod val="75000"/>
                </a:schemeClr>
              </a:solidFill>
            </a:endParaRPr>
          </a:p>
        </p:txBody>
      </p:sp>
    </p:spTree>
    <p:extLst>
      <p:ext uri="{BB962C8B-B14F-4D97-AF65-F5344CB8AC3E}">
        <p14:creationId xmlns:p14="http://schemas.microsoft.com/office/powerpoint/2010/main" val="78438234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Box 9">
            <a:extLst>
              <a:ext uri="{FF2B5EF4-FFF2-40B4-BE49-F238E27FC236}">
                <a16:creationId xmlns:a16="http://schemas.microsoft.com/office/drawing/2014/main" id="{F14CAF90-C938-69C7-09CA-F1036BBE98A2}"/>
              </a:ext>
            </a:extLst>
          </p:cNvPr>
          <p:cNvSpPr txBox="1"/>
          <p:nvPr/>
        </p:nvSpPr>
        <p:spPr>
          <a:xfrm>
            <a:off x="581629" y="2551837"/>
            <a:ext cx="10425896" cy="1754326"/>
          </a:xfrm>
          <a:prstGeom prst="rect">
            <a:avLst/>
          </a:prstGeom>
          <a:noFill/>
        </p:spPr>
        <p:txBody>
          <a:bodyPr wrap="square">
            <a:spAutoFit/>
          </a:bodyPr>
          <a:lstStyle/>
          <a:p>
            <a:pPr>
              <a:buNone/>
            </a:pPr>
            <a:r>
              <a:rPr lang="en-IN" b="1" dirty="0"/>
              <a:t>[7] </a:t>
            </a:r>
            <a:r>
              <a:rPr lang="en-IN" dirty="0"/>
              <a:t>S. Fortunato and D. Hric, “Community detection in networks: A user guide,” </a:t>
            </a:r>
            <a:r>
              <a:rPr lang="en-IN" i="1" dirty="0"/>
              <a:t>Physics Reports</a:t>
            </a:r>
            <a:r>
              <a:rPr lang="en-IN" dirty="0"/>
              <a:t>, vol. 659, pp. 1–44, 2016.</a:t>
            </a:r>
            <a:br>
              <a:rPr lang="en-IN" dirty="0"/>
            </a:br>
            <a:r>
              <a:rPr lang="en-IN" dirty="0">
                <a:hlinkClick r:id="rId2"/>
              </a:rPr>
              <a:t>https://doi.org/10.1016/j.physrep.2016.09.002</a:t>
            </a:r>
            <a:endParaRPr lang="en-IN" dirty="0"/>
          </a:p>
          <a:p>
            <a:pPr>
              <a:buNone/>
            </a:pPr>
            <a:r>
              <a:rPr lang="en-IN" b="1" dirty="0"/>
              <a:t>[8] </a:t>
            </a:r>
            <a:r>
              <a:rPr lang="en-IN" dirty="0"/>
              <a:t>A. Dhumal and P. </a:t>
            </a:r>
            <a:r>
              <a:rPr lang="en-IN" dirty="0" err="1"/>
              <a:t>Kamde</a:t>
            </a:r>
            <a:r>
              <a:rPr lang="en-IN" dirty="0"/>
              <a:t>, “Survey on community detection in online social networks,” </a:t>
            </a:r>
            <a:r>
              <a:rPr lang="en-IN" i="1" dirty="0"/>
              <a:t>International Journal of Computer Applications</a:t>
            </a:r>
            <a:r>
              <a:rPr lang="en-IN" dirty="0"/>
              <a:t>, vol. 121, no. 9, pp. 35–41, 2015.</a:t>
            </a:r>
            <a:br>
              <a:rPr lang="en-IN" dirty="0"/>
            </a:br>
            <a:r>
              <a:rPr lang="en-IN" dirty="0">
                <a:hlinkClick r:id="rId3"/>
              </a:rPr>
              <a:t>https://www.ijcaonline.org/archives/volume121/number9/21571-4609/</a:t>
            </a:r>
            <a:endParaRPr lang="en-IN" dirty="0"/>
          </a:p>
        </p:txBody>
      </p:sp>
      <p:sp>
        <p:nvSpPr>
          <p:cNvPr id="22" name="TextBox 21">
            <a:extLst>
              <a:ext uri="{FF2B5EF4-FFF2-40B4-BE49-F238E27FC236}">
                <a16:creationId xmlns:a16="http://schemas.microsoft.com/office/drawing/2014/main" id="{94923911-FCF0-C923-25D1-3A4A9F14992D}"/>
              </a:ext>
            </a:extLst>
          </p:cNvPr>
          <p:cNvSpPr txBox="1"/>
          <p:nvPr/>
        </p:nvSpPr>
        <p:spPr>
          <a:xfrm>
            <a:off x="581629" y="1628507"/>
            <a:ext cx="10344873" cy="923330"/>
          </a:xfrm>
          <a:prstGeom prst="rect">
            <a:avLst/>
          </a:prstGeom>
          <a:noFill/>
        </p:spPr>
        <p:txBody>
          <a:bodyPr wrap="square">
            <a:spAutoFit/>
          </a:bodyPr>
          <a:lstStyle/>
          <a:p>
            <a:pPr>
              <a:buNone/>
            </a:pPr>
            <a:r>
              <a:rPr lang="en-US" b="1" dirty="0"/>
              <a:t>[6]</a:t>
            </a:r>
            <a:r>
              <a:rPr lang="en-US" dirty="0"/>
              <a:t> J. Leskovec, K. J. Lang, and M. Mahoney, “Empirical comparison of algorithms for network community detection,” </a:t>
            </a:r>
            <a:r>
              <a:rPr lang="en-US" i="1" dirty="0"/>
              <a:t>WWW Conference</a:t>
            </a:r>
            <a:r>
              <a:rPr lang="en-US" dirty="0"/>
              <a:t>, 2010.</a:t>
            </a:r>
            <a:br>
              <a:rPr lang="en-US" dirty="0"/>
            </a:br>
            <a:r>
              <a:rPr lang="en-US" dirty="0">
                <a:solidFill>
                  <a:schemeClr val="accent1">
                    <a:lumMod val="75000"/>
                  </a:schemeClr>
                </a:solidFill>
              </a:rPr>
              <a:t>https://dl.acm.org/doi/10.1145/1772690.1772755</a:t>
            </a:r>
            <a:endParaRPr lang="en-IN" dirty="0">
              <a:solidFill>
                <a:schemeClr val="accent1">
                  <a:lumMod val="75000"/>
                </a:schemeClr>
              </a:solidFill>
            </a:endParaRPr>
          </a:p>
        </p:txBody>
      </p:sp>
    </p:spTree>
    <p:extLst>
      <p:ext uri="{BB962C8B-B14F-4D97-AF65-F5344CB8AC3E}">
        <p14:creationId xmlns:p14="http://schemas.microsoft.com/office/powerpoint/2010/main" val="35260883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8BE935-6EEE-FB3C-7AA6-186E5D5CD0DF}"/>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3E5B8F42-496A-343C-9528-96E8288162E6}"/>
              </a:ext>
            </a:extLst>
          </p:cNvPr>
          <p:cNvPicPr>
            <a:picLocks noChangeAspect="1"/>
          </p:cNvPicPr>
          <p:nvPr/>
        </p:nvPicPr>
        <p:blipFill>
          <a:blip r:embed="rId2">
            <a:extLst>
              <a:ext uri="{837473B0-CC2E-450A-ABE3-18F120FF3D39}">
                <a1611:picAttrSrcUrl xmlns:a1611="http://schemas.microsoft.com/office/drawing/2016/11/main" r:id="rId3"/>
              </a:ext>
            </a:extLst>
          </a:blip>
          <a:stretch>
            <a:fillRect/>
          </a:stretch>
        </p:blipFill>
        <p:spPr>
          <a:xfrm>
            <a:off x="1868128" y="1358743"/>
            <a:ext cx="8711381" cy="4860160"/>
          </a:xfrm>
          <a:prstGeom prst="rect">
            <a:avLst/>
          </a:prstGeom>
        </p:spPr>
      </p:pic>
      <p:sp>
        <p:nvSpPr>
          <p:cNvPr id="4" name="TextBox 3">
            <a:extLst>
              <a:ext uri="{FF2B5EF4-FFF2-40B4-BE49-F238E27FC236}">
                <a16:creationId xmlns:a16="http://schemas.microsoft.com/office/drawing/2014/main" id="{7DC4AA14-65F1-F257-AE4D-D8DD0F9C5015}"/>
              </a:ext>
            </a:extLst>
          </p:cNvPr>
          <p:cNvSpPr txBox="1"/>
          <p:nvPr/>
        </p:nvSpPr>
        <p:spPr>
          <a:xfrm>
            <a:off x="1740309" y="6443345"/>
            <a:ext cx="8711381" cy="230832"/>
          </a:xfrm>
          <a:prstGeom prst="rect">
            <a:avLst/>
          </a:prstGeom>
          <a:noFill/>
        </p:spPr>
        <p:txBody>
          <a:bodyPr wrap="square" rtlCol="0">
            <a:spAutoFit/>
          </a:bodyPr>
          <a:lstStyle/>
          <a:p>
            <a:r>
              <a:rPr lang="en-IN" sz="900">
                <a:hlinkClick r:id="rId3" tooltip="https://www.picpedia.org/chalkboard/t/thank-you.html"/>
              </a:rPr>
              <a:t>This Photo</a:t>
            </a:r>
            <a:r>
              <a:rPr lang="en-IN" sz="900"/>
              <a:t> by Unknown Author is licensed under </a:t>
            </a:r>
            <a:r>
              <a:rPr lang="en-IN" sz="900">
                <a:hlinkClick r:id="rId4" tooltip="https://creativecommons.org/licenses/by-sa/3.0/"/>
              </a:rPr>
              <a:t>CC BY-SA</a:t>
            </a:r>
            <a:endParaRPr lang="en-IN" sz="900"/>
          </a:p>
        </p:txBody>
      </p:sp>
    </p:spTree>
    <p:extLst>
      <p:ext uri="{BB962C8B-B14F-4D97-AF65-F5344CB8AC3E}">
        <p14:creationId xmlns:p14="http://schemas.microsoft.com/office/powerpoint/2010/main" val="3602333823"/>
      </p:ext>
    </p:extLst>
  </p:cSld>
  <p:clrMapOvr>
    <a:masterClrMapping/>
  </p:clrMapOvr>
</p:sld>
</file>

<file path=ppt/theme/theme1.xml><?xml version="1.0" encoding="utf-8"?>
<a:theme xmlns:a="http://schemas.openxmlformats.org/drawingml/2006/main" name="Custom">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Segoe UI">
      <a:majorFont>
        <a:latin typeface="Segoe UI Light"/>
        <a:ea typeface=""/>
        <a:cs typeface=""/>
      </a:majorFont>
      <a:minorFont>
        <a:latin typeface="Segoe U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F10001108_Win32 v2" id="{08D89365-2E4C-432D-9349-8DF9B80AEEA1}" vid="{010FF314-90DF-4A21-BD0D-ADCBA34234AC}"/>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7" ma:contentTypeDescription="Create a new document." ma:contentTypeScope="" ma:versionID="c6f9a84f66a9c8b9a21755b9ffafb945">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27df39e3e7036dff54f89ddd5805ce72"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Props1.xml><?xml version="1.0" encoding="utf-8"?>
<ds:datastoreItem xmlns:ds="http://schemas.openxmlformats.org/officeDocument/2006/customXml" ds:itemID="{5563EE24-83AF-4B4D-B45B-11D1ECD4364A}">
  <ds:schemaRefs>
    <ds:schemaRef ds:uri="http://schemas.microsoft.com/sharepoint/v3/contenttype/forms"/>
  </ds:schemaRefs>
</ds:datastoreItem>
</file>

<file path=customXml/itemProps2.xml><?xml version="1.0" encoding="utf-8"?>
<ds:datastoreItem xmlns:ds="http://schemas.openxmlformats.org/officeDocument/2006/customXml" ds:itemID="{B2FC9C26-AD58-4393-99DE-F67958CF6A2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5A3EE4EA-81C0-48D0-BEBD-A2EFD6B38B42}">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docProps/app.xml><?xml version="1.0" encoding="utf-8"?>
<Properties xmlns="http://schemas.openxmlformats.org/officeDocument/2006/extended-properties" xmlns:vt="http://schemas.openxmlformats.org/officeDocument/2006/docPropsVTypes">
  <Template>{FA0B0764-DF61-4584-BC48-F0EAEA30BA64}TF2989475c-5427-4edb-9ec1-00f4ce72165b77c8433f_win32-c33c42577f73</Template>
  <TotalTime>1532</TotalTime>
  <Words>1393</Words>
  <Application>Microsoft Office PowerPoint</Application>
  <PresentationFormat>Widescreen</PresentationFormat>
  <Paragraphs>155</Paragraphs>
  <Slides>18</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18</vt:i4>
      </vt:variant>
    </vt:vector>
  </HeadingPairs>
  <TitlesOfParts>
    <vt:vector size="23" baseType="lpstr">
      <vt:lpstr>Arial</vt:lpstr>
      <vt:lpstr>Calibri</vt:lpstr>
      <vt:lpstr>Segoe UI</vt:lpstr>
      <vt:lpstr>Segoe UI Light</vt:lpstr>
      <vt:lpstr>Custom</vt:lpstr>
      <vt:lpstr>PowerPoint Presentation</vt:lpstr>
      <vt:lpstr>ABSTRACT</vt:lpstr>
      <vt:lpstr>Contents</vt:lpstr>
      <vt:lpstr>Introduction</vt:lpstr>
      <vt:lpstr>Review of Literature</vt:lpstr>
      <vt:lpstr>PowerPoint Presentation</vt:lpstr>
      <vt:lpstr>Proposed System</vt:lpstr>
      <vt:lpstr>PowerPoint Presentation</vt:lpstr>
      <vt:lpstr>Execution </vt:lpstr>
      <vt:lpstr>PowerPoint Presentation</vt:lpstr>
      <vt:lpstr>PowerPoint Presentation</vt:lpstr>
      <vt:lpstr>PowerPoint Presentation</vt:lpstr>
      <vt:lpstr>PowerPoint Presentation</vt:lpstr>
      <vt:lpstr>PowerPoint Presentation</vt:lpstr>
      <vt:lpstr>Conclusion</vt:lpstr>
      <vt:lpstr>References</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 Baby Maruthi</dc:creator>
  <cp:keywords/>
  <cp:lastModifiedBy>shaik hafeefa</cp:lastModifiedBy>
  <cp:revision>9</cp:revision>
  <dcterms:created xsi:type="dcterms:W3CDTF">2026-02-04T14:20:25Z</dcterms:created>
  <dcterms:modified xsi:type="dcterms:W3CDTF">2026-04-30T04:29:44Z</dcterms:modified>
  <cp:version/>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